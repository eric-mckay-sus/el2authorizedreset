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819" r:id="rId3"/>
    <p:sldId id="2822" r:id="rId4"/>
    <p:sldId id="2807" r:id="rId5"/>
    <p:sldId id="2808" r:id="rId6"/>
    <p:sldId id="2809" r:id="rId7"/>
    <p:sldId id="2813" r:id="rId8"/>
    <p:sldId id="2815" r:id="rId9"/>
    <p:sldId id="2816" r:id="rId10"/>
    <p:sldId id="2825" r:id="rId11"/>
    <p:sldId id="2823" r:id="rId12"/>
    <p:sldId id="2824" r:id="rId13"/>
    <p:sldId id="2826" r:id="rId14"/>
    <p:sldId id="2827" r:id="rId15"/>
    <p:sldId id="2829" r:id="rId16"/>
    <p:sldId id="2828" r:id="rId17"/>
    <p:sldId id="2817" r:id="rId18"/>
    <p:sldId id="2830" r:id="rId19"/>
    <p:sldId id="2831"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58B8E18E-EC36-4AAC-804D-309F2D7BACD2}">
          <p14:sldIdLst>
            <p14:sldId id="256"/>
          </p14:sldIdLst>
        </p14:section>
        <p14:section name="Summary Section" id="{1092B080-68E4-43C4-A6BB-FC3C4BF79DF6}">
          <p14:sldIdLst>
            <p14:sldId id="2819"/>
            <p14:sldId id="2822"/>
          </p14:sldIdLst>
        </p14:section>
        <p14:section name="Historical records page" id="{7953E210-EE80-43B6-973A-E207864F8870}">
          <p14:sldIdLst>
            <p14:sldId id="2807"/>
            <p14:sldId id="2808"/>
            <p14:sldId id="2809"/>
            <p14:sldId id="2813"/>
          </p14:sldIdLst>
        </p14:section>
        <p14:section name="View line status page" id="{6CE7CD9C-2386-4479-8C34-F19D2C833D3C}">
          <p14:sldIdLst>
            <p14:sldId id="2815"/>
          </p14:sldIdLst>
        </p14:section>
        <p14:section name="Associate management" id="{E059FA79-F2B9-477F-B036-1CA427A041EF}">
          <p14:sldIdLst>
            <p14:sldId id="2816"/>
            <p14:sldId id="2825"/>
            <p14:sldId id="2823"/>
            <p14:sldId id="2824"/>
          </p14:sldIdLst>
        </p14:section>
        <p14:section name="Line management" id="{42B95939-FAA7-477D-80FE-F7E39021B29E}">
          <p14:sldIdLst>
            <p14:sldId id="2826"/>
            <p14:sldId id="2827"/>
            <p14:sldId id="2829"/>
            <p14:sldId id="2828"/>
          </p14:sldIdLst>
        </p14:section>
        <p14:section name="Update CMMS page" id="{B3499BAD-9CFD-4299-BDA4-8843225530E5}">
          <p14:sldIdLst>
            <p14:sldId id="2817"/>
            <p14:sldId id="2830"/>
            <p14:sldId id="2831"/>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CC00"/>
    <a:srgbClr val="F26322"/>
    <a:srgbClr val="BF2115"/>
    <a:srgbClr val="8C141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73" autoAdjust="0"/>
    <p:restoredTop sz="94660"/>
  </p:normalViewPr>
  <p:slideViewPr>
    <p:cSldViewPr snapToGrid="0">
      <p:cViewPr varScale="1">
        <p:scale>
          <a:sx n="102" d="100"/>
          <a:sy n="102" d="100"/>
        </p:scale>
        <p:origin x="1032" y="102"/>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23T15:22:00.152"/>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1,'94'0,"0"3,111 20,-170-18,1-2,48-1,-69-2</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5:22:05.54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 0,'741'0'0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3-23T15:22:28.062"/>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1,'389'0,"-374"0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90DC49-5E56-4663-BD73-6254BEC8D958}" type="datetimeFigureOut">
              <a:rPr lang="en-US" smtClean="0"/>
              <a:t>3/25/2026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1CF8D7-B076-43C3-BFB0-F1A9323A501F}" type="slidenum">
              <a:rPr lang="en-US" smtClean="0"/>
              <a:t>‹#›</a:t>
            </a:fld>
            <a:endParaRPr lang="en-US"/>
          </a:p>
        </p:txBody>
      </p:sp>
    </p:spTree>
    <p:extLst>
      <p:ext uri="{BB962C8B-B14F-4D97-AF65-F5344CB8AC3E}">
        <p14:creationId xmlns:p14="http://schemas.microsoft.com/office/powerpoint/2010/main" val="34139094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1CF8D7-B076-43C3-BFB0-F1A9323A501F}" type="slidenum">
              <a:rPr lang="en-US" smtClean="0"/>
              <a:t>7</a:t>
            </a:fld>
            <a:endParaRPr lang="en-US"/>
          </a:p>
        </p:txBody>
      </p:sp>
    </p:spTree>
    <p:extLst>
      <p:ext uri="{BB962C8B-B14F-4D97-AF65-F5344CB8AC3E}">
        <p14:creationId xmlns:p14="http://schemas.microsoft.com/office/powerpoint/2010/main" val="37677278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1CF8D7-B076-43C3-BFB0-F1A9323A501F}" type="slidenum">
              <a:rPr lang="en-US" smtClean="0"/>
              <a:t>13</a:t>
            </a:fld>
            <a:endParaRPr lang="en-US"/>
          </a:p>
        </p:txBody>
      </p:sp>
    </p:spTree>
    <p:extLst>
      <p:ext uri="{BB962C8B-B14F-4D97-AF65-F5344CB8AC3E}">
        <p14:creationId xmlns:p14="http://schemas.microsoft.com/office/powerpoint/2010/main" val="39052127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DE8C5-5A19-1B96-306F-6AF4828079D8}"/>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6417C461-4C20-8869-871E-B5400B8B68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0DB8A82-4B3C-32AF-60E6-F823D0730AB5}"/>
              </a:ext>
            </a:extLst>
          </p:cNvPr>
          <p:cNvSpPr>
            <a:spLocks noGrp="1"/>
          </p:cNvSpPr>
          <p:nvPr>
            <p:ph type="dt" sz="half" idx="10"/>
          </p:nvPr>
        </p:nvSpPr>
        <p:spPr/>
        <p:txBody>
          <a:bodyPr/>
          <a:lstStyle/>
          <a:p>
            <a:fld id="{059A6F5A-3024-43F4-A20E-288FCAB0A2E6}" type="datetimeFigureOut">
              <a:rPr lang="en-US" smtClean="0"/>
              <a:t>3/25/2026</a:t>
            </a:fld>
            <a:endParaRPr lang="en-US"/>
          </a:p>
        </p:txBody>
      </p:sp>
      <p:sp>
        <p:nvSpPr>
          <p:cNvPr id="5" name="Footer Placeholder 4">
            <a:extLst>
              <a:ext uri="{FF2B5EF4-FFF2-40B4-BE49-F238E27FC236}">
                <a16:creationId xmlns:a16="http://schemas.microsoft.com/office/drawing/2014/main" id="{30F5C46B-E48E-DF20-B602-DE88FB206A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EE5743-8524-0603-1138-452F41FC4FCA}"/>
              </a:ext>
            </a:extLst>
          </p:cNvPr>
          <p:cNvSpPr>
            <a:spLocks noGrp="1"/>
          </p:cNvSpPr>
          <p:nvPr>
            <p:ph type="sldNum" sz="quarter" idx="12"/>
          </p:nvPr>
        </p:nvSpPr>
        <p:spPr/>
        <p:txBody>
          <a:bodyPr/>
          <a:lstStyle/>
          <a:p>
            <a:fld id="{23BA0818-09BC-4CB6-A333-E22D8F286151}" type="slidenum">
              <a:rPr lang="en-US" smtClean="0"/>
              <a:t>‹#›</a:t>
            </a:fld>
            <a:endParaRPr lang="en-US"/>
          </a:p>
        </p:txBody>
      </p:sp>
    </p:spTree>
    <p:extLst>
      <p:ext uri="{BB962C8B-B14F-4D97-AF65-F5344CB8AC3E}">
        <p14:creationId xmlns:p14="http://schemas.microsoft.com/office/powerpoint/2010/main" val="15655717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16E11-5F87-4491-6D5C-528520CB0B30}"/>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4D757C95-6675-FF55-36AE-5EEA4231395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B47A78-ED9B-C900-C4FD-30005FE2D7BC}"/>
              </a:ext>
            </a:extLst>
          </p:cNvPr>
          <p:cNvSpPr>
            <a:spLocks noGrp="1"/>
          </p:cNvSpPr>
          <p:nvPr>
            <p:ph type="dt" sz="half" idx="10"/>
          </p:nvPr>
        </p:nvSpPr>
        <p:spPr/>
        <p:txBody>
          <a:bodyPr/>
          <a:lstStyle/>
          <a:p>
            <a:fld id="{059A6F5A-3024-43F4-A20E-288FCAB0A2E6}" type="datetimeFigureOut">
              <a:rPr lang="en-US" smtClean="0"/>
              <a:t>3/25/2026</a:t>
            </a:fld>
            <a:endParaRPr lang="en-US"/>
          </a:p>
        </p:txBody>
      </p:sp>
      <p:sp>
        <p:nvSpPr>
          <p:cNvPr id="5" name="Footer Placeholder 4">
            <a:extLst>
              <a:ext uri="{FF2B5EF4-FFF2-40B4-BE49-F238E27FC236}">
                <a16:creationId xmlns:a16="http://schemas.microsoft.com/office/drawing/2014/main" id="{7646315F-B814-DC5F-E961-BDECA1CDED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096B70-B5B5-D316-E181-C9CD968FD65F}"/>
              </a:ext>
            </a:extLst>
          </p:cNvPr>
          <p:cNvSpPr>
            <a:spLocks noGrp="1"/>
          </p:cNvSpPr>
          <p:nvPr>
            <p:ph type="sldNum" sz="quarter" idx="12"/>
          </p:nvPr>
        </p:nvSpPr>
        <p:spPr/>
        <p:txBody>
          <a:bodyPr/>
          <a:lstStyle/>
          <a:p>
            <a:fld id="{23BA0818-09BC-4CB6-A333-E22D8F286151}" type="slidenum">
              <a:rPr lang="en-US" smtClean="0"/>
              <a:t>‹#›</a:t>
            </a:fld>
            <a:endParaRPr lang="en-US"/>
          </a:p>
        </p:txBody>
      </p:sp>
    </p:spTree>
    <p:extLst>
      <p:ext uri="{BB962C8B-B14F-4D97-AF65-F5344CB8AC3E}">
        <p14:creationId xmlns:p14="http://schemas.microsoft.com/office/powerpoint/2010/main" val="27324561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1592D-531C-BD44-A180-1BE6F1D42F2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2DB949A-9177-A81A-184B-60B55571C7A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4CA427-B909-832B-C2C0-C58F094E28B6}"/>
              </a:ext>
            </a:extLst>
          </p:cNvPr>
          <p:cNvSpPr>
            <a:spLocks noGrp="1"/>
          </p:cNvSpPr>
          <p:nvPr>
            <p:ph type="dt" sz="half" idx="10"/>
          </p:nvPr>
        </p:nvSpPr>
        <p:spPr/>
        <p:txBody>
          <a:bodyPr/>
          <a:lstStyle/>
          <a:p>
            <a:fld id="{059A6F5A-3024-43F4-A20E-288FCAB0A2E6}" type="datetimeFigureOut">
              <a:rPr lang="en-US" smtClean="0"/>
              <a:t>3/25/2026</a:t>
            </a:fld>
            <a:endParaRPr lang="en-US"/>
          </a:p>
        </p:txBody>
      </p:sp>
      <p:sp>
        <p:nvSpPr>
          <p:cNvPr id="5" name="Footer Placeholder 4">
            <a:extLst>
              <a:ext uri="{FF2B5EF4-FFF2-40B4-BE49-F238E27FC236}">
                <a16:creationId xmlns:a16="http://schemas.microsoft.com/office/drawing/2014/main" id="{0B1ADC22-5746-E4D2-084B-217209051F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5A3203-E1C1-83C0-A787-4E04DD26161E}"/>
              </a:ext>
            </a:extLst>
          </p:cNvPr>
          <p:cNvSpPr>
            <a:spLocks noGrp="1"/>
          </p:cNvSpPr>
          <p:nvPr>
            <p:ph type="sldNum" sz="quarter" idx="12"/>
          </p:nvPr>
        </p:nvSpPr>
        <p:spPr/>
        <p:txBody>
          <a:bodyPr/>
          <a:lstStyle/>
          <a:p>
            <a:fld id="{23BA0818-09BC-4CB6-A333-E22D8F286151}" type="slidenum">
              <a:rPr lang="en-US" smtClean="0"/>
              <a:t>‹#›</a:t>
            </a:fld>
            <a:endParaRPr lang="en-US"/>
          </a:p>
        </p:txBody>
      </p:sp>
    </p:spTree>
    <p:extLst>
      <p:ext uri="{BB962C8B-B14F-4D97-AF65-F5344CB8AC3E}">
        <p14:creationId xmlns:p14="http://schemas.microsoft.com/office/powerpoint/2010/main" val="11770025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29DE8-3598-89F6-89E0-A4AB4A0E2E1E}"/>
              </a:ext>
            </a:extLst>
          </p:cNvPr>
          <p:cNvSpPr>
            <a:spLocks noGrp="1"/>
          </p:cNvSpPr>
          <p:nvPr>
            <p:ph type="title"/>
          </p:nvPr>
        </p:nvSpPr>
        <p:spPr>
          <a:xfrm>
            <a:off x="2603242" y="225156"/>
            <a:ext cx="7007289" cy="679904"/>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8C6B4742-6A63-D0FF-168E-45D01BDC45CF}"/>
              </a:ext>
            </a:extLst>
          </p:cNvPr>
          <p:cNvSpPr>
            <a:spLocks noGrp="1"/>
          </p:cNvSpPr>
          <p:nvPr>
            <p:ph sz="half" idx="1"/>
          </p:nvPr>
        </p:nvSpPr>
        <p:spPr>
          <a:xfrm>
            <a:off x="289249" y="933061"/>
            <a:ext cx="5187820" cy="52439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B496B563-378E-3C17-C501-1A3FD85C9DA1}"/>
              </a:ext>
            </a:extLst>
          </p:cNvPr>
          <p:cNvSpPr>
            <a:spLocks noGrp="1"/>
          </p:cNvSpPr>
          <p:nvPr>
            <p:ph sz="half" idx="2"/>
          </p:nvPr>
        </p:nvSpPr>
        <p:spPr>
          <a:xfrm>
            <a:off x="5623249" y="933061"/>
            <a:ext cx="6040016" cy="52439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437F973-CB61-47FC-CA63-982F96A5D49C}"/>
              </a:ext>
            </a:extLst>
          </p:cNvPr>
          <p:cNvSpPr>
            <a:spLocks noGrp="1"/>
          </p:cNvSpPr>
          <p:nvPr>
            <p:ph type="dt" sz="half" idx="10"/>
          </p:nvPr>
        </p:nvSpPr>
        <p:spPr/>
        <p:txBody>
          <a:bodyPr/>
          <a:lstStyle/>
          <a:p>
            <a:fld id="{059A6F5A-3024-43F4-A20E-288FCAB0A2E6}" type="datetimeFigureOut">
              <a:rPr lang="en-US" smtClean="0"/>
              <a:t>3/25/2026</a:t>
            </a:fld>
            <a:endParaRPr lang="en-US"/>
          </a:p>
        </p:txBody>
      </p:sp>
      <p:sp>
        <p:nvSpPr>
          <p:cNvPr id="6" name="Footer Placeholder 5">
            <a:extLst>
              <a:ext uri="{FF2B5EF4-FFF2-40B4-BE49-F238E27FC236}">
                <a16:creationId xmlns:a16="http://schemas.microsoft.com/office/drawing/2014/main" id="{1C8760D3-C39F-4961-3DC7-3CCD27F0B4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4141F6-A0BF-1909-79DC-940586CFA8EF}"/>
              </a:ext>
            </a:extLst>
          </p:cNvPr>
          <p:cNvSpPr>
            <a:spLocks noGrp="1"/>
          </p:cNvSpPr>
          <p:nvPr>
            <p:ph type="sldNum" sz="quarter" idx="12"/>
          </p:nvPr>
        </p:nvSpPr>
        <p:spPr/>
        <p:txBody>
          <a:bodyPr/>
          <a:lstStyle/>
          <a:p>
            <a:fld id="{23BA0818-09BC-4CB6-A333-E22D8F286151}" type="slidenum">
              <a:rPr lang="en-US" smtClean="0"/>
              <a:t>‹#›</a:t>
            </a:fld>
            <a:endParaRPr lang="en-US"/>
          </a:p>
        </p:txBody>
      </p:sp>
    </p:spTree>
    <p:extLst>
      <p:ext uri="{BB962C8B-B14F-4D97-AF65-F5344CB8AC3E}">
        <p14:creationId xmlns:p14="http://schemas.microsoft.com/office/powerpoint/2010/main" val="2886280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70835-AF5A-3D95-BDDE-D26D8AE4C4A6}"/>
              </a:ext>
            </a:extLst>
          </p:cNvPr>
          <p:cNvSpPr>
            <a:spLocks noGrp="1"/>
          </p:cNvSpPr>
          <p:nvPr>
            <p:ph type="title"/>
          </p:nvPr>
        </p:nvSpPr>
        <p:spPr>
          <a:xfrm>
            <a:off x="1716834" y="215838"/>
            <a:ext cx="8780106" cy="823912"/>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A9D79718-38B4-3C4B-257A-4DE3C7AD9341}"/>
              </a:ext>
            </a:extLst>
          </p:cNvPr>
          <p:cNvSpPr>
            <a:spLocks noGrp="1"/>
          </p:cNvSpPr>
          <p:nvPr>
            <p:ph type="body" idx="1"/>
          </p:nvPr>
        </p:nvSpPr>
        <p:spPr>
          <a:xfrm>
            <a:off x="261258" y="813416"/>
            <a:ext cx="5736318" cy="502200"/>
          </a:xfrm>
        </p:spPr>
        <p:txBody>
          <a:bodyPr anchor="t"/>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C918D50-72EA-330C-8E10-361E0DAFE171}"/>
              </a:ext>
            </a:extLst>
          </p:cNvPr>
          <p:cNvSpPr>
            <a:spLocks noGrp="1"/>
          </p:cNvSpPr>
          <p:nvPr>
            <p:ph sz="half" idx="2"/>
          </p:nvPr>
        </p:nvSpPr>
        <p:spPr>
          <a:xfrm>
            <a:off x="261258" y="1315615"/>
            <a:ext cx="5736318" cy="48612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67128F8-B2FF-B714-D95F-8781E76D4729}"/>
              </a:ext>
            </a:extLst>
          </p:cNvPr>
          <p:cNvSpPr>
            <a:spLocks noGrp="1"/>
          </p:cNvSpPr>
          <p:nvPr>
            <p:ph type="body" sz="quarter" idx="3"/>
          </p:nvPr>
        </p:nvSpPr>
        <p:spPr>
          <a:xfrm>
            <a:off x="6172199" y="813416"/>
            <a:ext cx="5612363" cy="502200"/>
          </a:xfrm>
        </p:spPr>
        <p:txBody>
          <a:bodyPr anchor="t"/>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EB73D32-9F8F-7514-7E26-AF0D8754CB18}"/>
              </a:ext>
            </a:extLst>
          </p:cNvPr>
          <p:cNvSpPr>
            <a:spLocks noGrp="1"/>
          </p:cNvSpPr>
          <p:nvPr>
            <p:ph sz="quarter" idx="4"/>
          </p:nvPr>
        </p:nvSpPr>
        <p:spPr>
          <a:xfrm>
            <a:off x="6194426" y="1315614"/>
            <a:ext cx="5612363" cy="48612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19DA126-B99B-A1CF-ABCC-AFAB89F3595E}"/>
              </a:ext>
            </a:extLst>
          </p:cNvPr>
          <p:cNvSpPr>
            <a:spLocks noGrp="1"/>
          </p:cNvSpPr>
          <p:nvPr>
            <p:ph type="dt" sz="half" idx="10"/>
          </p:nvPr>
        </p:nvSpPr>
        <p:spPr/>
        <p:txBody>
          <a:bodyPr/>
          <a:lstStyle/>
          <a:p>
            <a:fld id="{059A6F5A-3024-43F4-A20E-288FCAB0A2E6}" type="datetimeFigureOut">
              <a:rPr lang="en-US" smtClean="0"/>
              <a:t>3/25/2026</a:t>
            </a:fld>
            <a:endParaRPr lang="en-US"/>
          </a:p>
        </p:txBody>
      </p:sp>
      <p:sp>
        <p:nvSpPr>
          <p:cNvPr id="8" name="Footer Placeholder 7">
            <a:extLst>
              <a:ext uri="{FF2B5EF4-FFF2-40B4-BE49-F238E27FC236}">
                <a16:creationId xmlns:a16="http://schemas.microsoft.com/office/drawing/2014/main" id="{B402FC3B-F495-1301-4445-3ABC36D9169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6060DA4-40D9-55F9-56FE-D5D821C4F2D9}"/>
              </a:ext>
            </a:extLst>
          </p:cNvPr>
          <p:cNvSpPr>
            <a:spLocks noGrp="1"/>
          </p:cNvSpPr>
          <p:nvPr>
            <p:ph type="sldNum" sz="quarter" idx="12"/>
          </p:nvPr>
        </p:nvSpPr>
        <p:spPr/>
        <p:txBody>
          <a:bodyPr/>
          <a:lstStyle/>
          <a:p>
            <a:fld id="{23BA0818-09BC-4CB6-A333-E22D8F286151}" type="slidenum">
              <a:rPr lang="en-US" smtClean="0"/>
              <a:t>‹#›</a:t>
            </a:fld>
            <a:endParaRPr lang="en-US"/>
          </a:p>
        </p:txBody>
      </p:sp>
    </p:spTree>
    <p:extLst>
      <p:ext uri="{BB962C8B-B14F-4D97-AF65-F5344CB8AC3E}">
        <p14:creationId xmlns:p14="http://schemas.microsoft.com/office/powerpoint/2010/main" val="517995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BFFF8-AD45-9480-41DC-551DBE82D5A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BEF5916-BF3C-CC0D-309B-70371AA2F620}"/>
              </a:ext>
            </a:extLst>
          </p:cNvPr>
          <p:cNvSpPr>
            <a:spLocks noGrp="1"/>
          </p:cNvSpPr>
          <p:nvPr>
            <p:ph type="dt" sz="half" idx="10"/>
          </p:nvPr>
        </p:nvSpPr>
        <p:spPr/>
        <p:txBody>
          <a:bodyPr/>
          <a:lstStyle/>
          <a:p>
            <a:fld id="{059A6F5A-3024-43F4-A20E-288FCAB0A2E6}" type="datetimeFigureOut">
              <a:rPr lang="en-US" smtClean="0"/>
              <a:t>3/25/2026</a:t>
            </a:fld>
            <a:endParaRPr lang="en-US"/>
          </a:p>
        </p:txBody>
      </p:sp>
      <p:sp>
        <p:nvSpPr>
          <p:cNvPr id="4" name="Footer Placeholder 3">
            <a:extLst>
              <a:ext uri="{FF2B5EF4-FFF2-40B4-BE49-F238E27FC236}">
                <a16:creationId xmlns:a16="http://schemas.microsoft.com/office/drawing/2014/main" id="{082996AB-E27F-CDD2-51BD-9F075E5CB44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06F9E74-68F7-DBF7-BF1E-DEAE8CC018D5}"/>
              </a:ext>
            </a:extLst>
          </p:cNvPr>
          <p:cNvSpPr>
            <a:spLocks noGrp="1"/>
          </p:cNvSpPr>
          <p:nvPr>
            <p:ph type="sldNum" sz="quarter" idx="12"/>
          </p:nvPr>
        </p:nvSpPr>
        <p:spPr/>
        <p:txBody>
          <a:bodyPr/>
          <a:lstStyle/>
          <a:p>
            <a:fld id="{23BA0818-09BC-4CB6-A333-E22D8F286151}" type="slidenum">
              <a:rPr lang="en-US" smtClean="0"/>
              <a:t>‹#›</a:t>
            </a:fld>
            <a:endParaRPr lang="en-US"/>
          </a:p>
        </p:txBody>
      </p:sp>
      <p:sp>
        <p:nvSpPr>
          <p:cNvPr id="15" name="Picture Placeholder 14">
            <a:extLst>
              <a:ext uri="{FF2B5EF4-FFF2-40B4-BE49-F238E27FC236}">
                <a16:creationId xmlns:a16="http://schemas.microsoft.com/office/drawing/2014/main" id="{BA1A8039-3853-1B57-CEC2-9744CD5727D0}"/>
              </a:ext>
            </a:extLst>
          </p:cNvPr>
          <p:cNvSpPr>
            <a:spLocks noGrp="1"/>
          </p:cNvSpPr>
          <p:nvPr>
            <p:ph type="pic" sz="quarter" idx="13"/>
          </p:nvPr>
        </p:nvSpPr>
        <p:spPr>
          <a:xfrm>
            <a:off x="434975" y="988743"/>
            <a:ext cx="2695772" cy="2142773"/>
          </a:xfrm>
          <a:custGeom>
            <a:avLst/>
            <a:gdLst>
              <a:gd name="connsiteX0" fmla="*/ 535694 w 2695772"/>
              <a:gd name="connsiteY0" fmla="*/ 0 h 2142773"/>
              <a:gd name="connsiteX1" fmla="*/ 2160080 w 2695772"/>
              <a:gd name="connsiteY1" fmla="*/ 0 h 2142773"/>
              <a:gd name="connsiteX2" fmla="*/ 2695772 w 2695772"/>
              <a:gd name="connsiteY2" fmla="*/ 1071386 h 2142773"/>
              <a:gd name="connsiteX3" fmla="*/ 2160079 w 2695772"/>
              <a:gd name="connsiteY3" fmla="*/ 2142773 h 2142773"/>
              <a:gd name="connsiteX4" fmla="*/ 535694 w 2695772"/>
              <a:gd name="connsiteY4" fmla="*/ 2142773 h 2142773"/>
              <a:gd name="connsiteX5" fmla="*/ 0 w 2695772"/>
              <a:gd name="connsiteY5" fmla="*/ 1071386 h 2142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95772" h="2142773">
                <a:moveTo>
                  <a:pt x="535694" y="0"/>
                </a:moveTo>
                <a:lnTo>
                  <a:pt x="2160080" y="0"/>
                </a:lnTo>
                <a:lnTo>
                  <a:pt x="2695772" y="1071386"/>
                </a:lnTo>
                <a:lnTo>
                  <a:pt x="2160079" y="2142773"/>
                </a:lnTo>
                <a:lnTo>
                  <a:pt x="535694" y="2142773"/>
                </a:lnTo>
                <a:lnTo>
                  <a:pt x="0" y="1071386"/>
                </a:lnTo>
                <a:close/>
              </a:path>
            </a:pathLst>
          </a:custGeom>
        </p:spPr>
        <p:txBody>
          <a:bodyPr wrap="square">
            <a:noAutofit/>
          </a:bodyPr>
          <a:lstStyle/>
          <a:p>
            <a:r>
              <a:rPr lang="en-US"/>
              <a:t>Click icon to add picture</a:t>
            </a:r>
          </a:p>
        </p:txBody>
      </p:sp>
      <p:sp>
        <p:nvSpPr>
          <p:cNvPr id="11" name="Text Placeholder 10">
            <a:extLst>
              <a:ext uri="{FF2B5EF4-FFF2-40B4-BE49-F238E27FC236}">
                <a16:creationId xmlns:a16="http://schemas.microsoft.com/office/drawing/2014/main" id="{8C70CC3A-52A8-9373-EB87-CCECF48BFC0B}"/>
              </a:ext>
            </a:extLst>
          </p:cNvPr>
          <p:cNvSpPr>
            <a:spLocks noGrp="1"/>
          </p:cNvSpPr>
          <p:nvPr>
            <p:ph type="body" sz="quarter" idx="14"/>
          </p:nvPr>
        </p:nvSpPr>
        <p:spPr>
          <a:xfrm>
            <a:off x="6708710" y="911379"/>
            <a:ext cx="5048315" cy="52934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Picture Placeholder 15">
            <a:extLst>
              <a:ext uri="{FF2B5EF4-FFF2-40B4-BE49-F238E27FC236}">
                <a16:creationId xmlns:a16="http://schemas.microsoft.com/office/drawing/2014/main" id="{E27E389A-46CB-1C2E-6356-93E609ADA8CB}"/>
              </a:ext>
            </a:extLst>
          </p:cNvPr>
          <p:cNvSpPr>
            <a:spLocks noGrp="1"/>
          </p:cNvSpPr>
          <p:nvPr>
            <p:ph type="pic" sz="quarter" idx="15"/>
          </p:nvPr>
        </p:nvSpPr>
        <p:spPr>
          <a:xfrm>
            <a:off x="2696096" y="2153439"/>
            <a:ext cx="2695772" cy="2142773"/>
          </a:xfrm>
          <a:custGeom>
            <a:avLst/>
            <a:gdLst>
              <a:gd name="connsiteX0" fmla="*/ 535694 w 2695772"/>
              <a:gd name="connsiteY0" fmla="*/ 0 h 2142773"/>
              <a:gd name="connsiteX1" fmla="*/ 2160080 w 2695772"/>
              <a:gd name="connsiteY1" fmla="*/ 0 h 2142773"/>
              <a:gd name="connsiteX2" fmla="*/ 2695772 w 2695772"/>
              <a:gd name="connsiteY2" fmla="*/ 1071386 h 2142773"/>
              <a:gd name="connsiteX3" fmla="*/ 2160079 w 2695772"/>
              <a:gd name="connsiteY3" fmla="*/ 2142773 h 2142773"/>
              <a:gd name="connsiteX4" fmla="*/ 535694 w 2695772"/>
              <a:gd name="connsiteY4" fmla="*/ 2142773 h 2142773"/>
              <a:gd name="connsiteX5" fmla="*/ 0 w 2695772"/>
              <a:gd name="connsiteY5" fmla="*/ 1071386 h 2142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95772" h="2142773">
                <a:moveTo>
                  <a:pt x="535694" y="0"/>
                </a:moveTo>
                <a:lnTo>
                  <a:pt x="2160080" y="0"/>
                </a:lnTo>
                <a:lnTo>
                  <a:pt x="2695772" y="1071386"/>
                </a:lnTo>
                <a:lnTo>
                  <a:pt x="2160079" y="2142773"/>
                </a:lnTo>
                <a:lnTo>
                  <a:pt x="535694" y="2142773"/>
                </a:lnTo>
                <a:lnTo>
                  <a:pt x="0" y="1071386"/>
                </a:lnTo>
                <a:close/>
              </a:path>
            </a:pathLst>
          </a:custGeom>
        </p:spPr>
        <p:txBody>
          <a:bodyPr wrap="square">
            <a:noAutofit/>
          </a:bodyPr>
          <a:lstStyle/>
          <a:p>
            <a:r>
              <a:rPr lang="en-US"/>
              <a:t>Click icon to add picture</a:t>
            </a:r>
          </a:p>
        </p:txBody>
      </p:sp>
      <p:sp>
        <p:nvSpPr>
          <p:cNvPr id="17" name="Picture Placeholder 16">
            <a:extLst>
              <a:ext uri="{FF2B5EF4-FFF2-40B4-BE49-F238E27FC236}">
                <a16:creationId xmlns:a16="http://schemas.microsoft.com/office/drawing/2014/main" id="{E76D0469-9CB9-705F-ADF6-9365FC7886F0}"/>
              </a:ext>
            </a:extLst>
          </p:cNvPr>
          <p:cNvSpPr>
            <a:spLocks noGrp="1"/>
          </p:cNvSpPr>
          <p:nvPr>
            <p:ph type="pic" sz="quarter" idx="16"/>
          </p:nvPr>
        </p:nvSpPr>
        <p:spPr>
          <a:xfrm>
            <a:off x="388320" y="3261556"/>
            <a:ext cx="2695772" cy="2142773"/>
          </a:xfrm>
          <a:custGeom>
            <a:avLst/>
            <a:gdLst>
              <a:gd name="connsiteX0" fmla="*/ 535694 w 2695772"/>
              <a:gd name="connsiteY0" fmla="*/ 0 h 2142773"/>
              <a:gd name="connsiteX1" fmla="*/ 2160080 w 2695772"/>
              <a:gd name="connsiteY1" fmla="*/ 0 h 2142773"/>
              <a:gd name="connsiteX2" fmla="*/ 2695772 w 2695772"/>
              <a:gd name="connsiteY2" fmla="*/ 1071386 h 2142773"/>
              <a:gd name="connsiteX3" fmla="*/ 2160079 w 2695772"/>
              <a:gd name="connsiteY3" fmla="*/ 2142773 h 2142773"/>
              <a:gd name="connsiteX4" fmla="*/ 535694 w 2695772"/>
              <a:gd name="connsiteY4" fmla="*/ 2142773 h 2142773"/>
              <a:gd name="connsiteX5" fmla="*/ 0 w 2695772"/>
              <a:gd name="connsiteY5" fmla="*/ 1071386 h 2142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95772" h="2142773">
                <a:moveTo>
                  <a:pt x="535694" y="0"/>
                </a:moveTo>
                <a:lnTo>
                  <a:pt x="2160080" y="0"/>
                </a:lnTo>
                <a:lnTo>
                  <a:pt x="2695772" y="1071386"/>
                </a:lnTo>
                <a:lnTo>
                  <a:pt x="2160079" y="2142773"/>
                </a:lnTo>
                <a:lnTo>
                  <a:pt x="535694" y="2142773"/>
                </a:lnTo>
                <a:lnTo>
                  <a:pt x="0" y="1071386"/>
                </a:lnTo>
                <a:close/>
              </a:path>
            </a:pathLst>
          </a:custGeom>
        </p:spPr>
        <p:txBody>
          <a:bodyPr wrap="square">
            <a:noAutofit/>
          </a:bodyPr>
          <a:lstStyle/>
          <a:p>
            <a:r>
              <a:rPr lang="en-US"/>
              <a:t>Click icon to add picture</a:t>
            </a:r>
          </a:p>
        </p:txBody>
      </p:sp>
    </p:spTree>
    <p:extLst>
      <p:ext uri="{BB962C8B-B14F-4D97-AF65-F5344CB8AC3E}">
        <p14:creationId xmlns:p14="http://schemas.microsoft.com/office/powerpoint/2010/main" val="2185054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E5D8B-754D-04A1-62D4-E00DE75668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8A9CD3E-2ED7-A31B-42BA-2BF3DE2042C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5B18C08-8E1C-0D34-394D-FAB4F50BFA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C58DDE-6A55-5071-14AB-45BAFFC2B6C6}"/>
              </a:ext>
            </a:extLst>
          </p:cNvPr>
          <p:cNvSpPr>
            <a:spLocks noGrp="1"/>
          </p:cNvSpPr>
          <p:nvPr>
            <p:ph type="dt" sz="half" idx="10"/>
          </p:nvPr>
        </p:nvSpPr>
        <p:spPr/>
        <p:txBody>
          <a:bodyPr/>
          <a:lstStyle/>
          <a:p>
            <a:fld id="{059A6F5A-3024-43F4-A20E-288FCAB0A2E6}" type="datetimeFigureOut">
              <a:rPr lang="en-US" smtClean="0"/>
              <a:t>3/25/2026</a:t>
            </a:fld>
            <a:endParaRPr lang="en-US"/>
          </a:p>
        </p:txBody>
      </p:sp>
      <p:sp>
        <p:nvSpPr>
          <p:cNvPr id="6" name="Footer Placeholder 5">
            <a:extLst>
              <a:ext uri="{FF2B5EF4-FFF2-40B4-BE49-F238E27FC236}">
                <a16:creationId xmlns:a16="http://schemas.microsoft.com/office/drawing/2014/main" id="{AB03DBAC-025A-E3A5-0160-13A4917649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592EB1-24D7-2ED0-FF10-A17143986C34}"/>
              </a:ext>
            </a:extLst>
          </p:cNvPr>
          <p:cNvSpPr>
            <a:spLocks noGrp="1"/>
          </p:cNvSpPr>
          <p:nvPr>
            <p:ph type="sldNum" sz="quarter" idx="12"/>
          </p:nvPr>
        </p:nvSpPr>
        <p:spPr/>
        <p:txBody>
          <a:bodyPr/>
          <a:lstStyle/>
          <a:p>
            <a:fld id="{23BA0818-09BC-4CB6-A333-E22D8F286151}" type="slidenum">
              <a:rPr lang="en-US" smtClean="0"/>
              <a:t>‹#›</a:t>
            </a:fld>
            <a:endParaRPr lang="en-US"/>
          </a:p>
        </p:txBody>
      </p:sp>
    </p:spTree>
    <p:extLst>
      <p:ext uri="{BB962C8B-B14F-4D97-AF65-F5344CB8AC3E}">
        <p14:creationId xmlns:p14="http://schemas.microsoft.com/office/powerpoint/2010/main" val="38476560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25D3064-AD0E-44B8-A1FD-C9C8294B3E55}"/>
              </a:ext>
            </a:extLst>
          </p:cNvPr>
          <p:cNvSpPr>
            <a:spLocks noGrp="1"/>
          </p:cNvSpPr>
          <p:nvPr>
            <p:ph type="title"/>
          </p:nvPr>
        </p:nvSpPr>
        <p:spPr>
          <a:xfrm>
            <a:off x="2584580" y="225156"/>
            <a:ext cx="7007289" cy="679904"/>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8920840-FF82-AFD6-0E92-5191E0F412F3}"/>
              </a:ext>
            </a:extLst>
          </p:cNvPr>
          <p:cNvSpPr>
            <a:spLocks noGrp="1"/>
          </p:cNvSpPr>
          <p:nvPr>
            <p:ph type="body" idx="1"/>
          </p:nvPr>
        </p:nvSpPr>
        <p:spPr>
          <a:xfrm>
            <a:off x="167798" y="1063690"/>
            <a:ext cx="11775386" cy="523667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6B20262-5C22-1B22-F590-B21510489AA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59A6F5A-3024-43F4-A20E-288FCAB0A2E6}" type="datetimeFigureOut">
              <a:rPr lang="en-US" smtClean="0"/>
              <a:t>3/25/2026</a:t>
            </a:fld>
            <a:endParaRPr lang="en-US"/>
          </a:p>
        </p:txBody>
      </p:sp>
      <p:sp>
        <p:nvSpPr>
          <p:cNvPr id="5" name="Footer Placeholder 4">
            <a:extLst>
              <a:ext uri="{FF2B5EF4-FFF2-40B4-BE49-F238E27FC236}">
                <a16:creationId xmlns:a16="http://schemas.microsoft.com/office/drawing/2014/main" id="{93C30A65-5A1D-597B-31D3-E9ADC4F97E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027051A-5A19-BFB8-4804-DAF4136C416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3BA0818-09BC-4CB6-A333-E22D8F286151}" type="slidenum">
              <a:rPr lang="en-US" smtClean="0"/>
              <a:t>‹#›</a:t>
            </a:fld>
            <a:endParaRPr lang="en-US"/>
          </a:p>
        </p:txBody>
      </p:sp>
      <p:pic>
        <p:nvPicPr>
          <p:cNvPr id="10" name="Picture 9">
            <a:extLst>
              <a:ext uri="{FF2B5EF4-FFF2-40B4-BE49-F238E27FC236}">
                <a16:creationId xmlns:a16="http://schemas.microsoft.com/office/drawing/2014/main" id="{3ED217C2-53E7-CA69-B787-B849C2D7649B}"/>
              </a:ext>
            </a:extLst>
          </p:cNvPr>
          <p:cNvPicPr>
            <a:picLocks noChangeAspect="1"/>
          </p:cNvPicPr>
          <p:nvPr userDrawn="1"/>
        </p:nvPicPr>
        <p:blipFill>
          <a:blip r:embed="rId9"/>
          <a:stretch>
            <a:fillRect/>
          </a:stretch>
        </p:blipFill>
        <p:spPr>
          <a:xfrm>
            <a:off x="270439" y="178333"/>
            <a:ext cx="1819615" cy="731096"/>
          </a:xfrm>
          <a:prstGeom prst="rect">
            <a:avLst/>
          </a:prstGeom>
        </p:spPr>
      </p:pic>
      <p:cxnSp>
        <p:nvCxnSpPr>
          <p:cNvPr id="8" name="Straight Connector 7">
            <a:extLst>
              <a:ext uri="{FF2B5EF4-FFF2-40B4-BE49-F238E27FC236}">
                <a16:creationId xmlns:a16="http://schemas.microsoft.com/office/drawing/2014/main" id="{F0F4A335-5B64-1815-BD75-26B3B05EC4F6}"/>
              </a:ext>
            </a:extLst>
          </p:cNvPr>
          <p:cNvCxnSpPr/>
          <p:nvPr userDrawn="1"/>
        </p:nvCxnSpPr>
        <p:spPr>
          <a:xfrm>
            <a:off x="2192694" y="853443"/>
            <a:ext cx="9685175"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135805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Lst>
  <p:txStyles>
    <p:titleStyle>
      <a:lvl1pPr algn="ctr" defTabSz="914400" rtl="0" eaLnBrk="1" latinLnBrk="0" hangingPunct="1">
        <a:lnSpc>
          <a:spcPct val="90000"/>
        </a:lnSpc>
        <a:spcBef>
          <a:spcPct val="0"/>
        </a:spcBef>
        <a:buNone/>
        <a:defRPr sz="4400" b="1" kern="1200">
          <a:solidFill>
            <a:schemeClr val="accent2"/>
          </a:solidFill>
          <a:latin typeface="Calibri" panose="020F0502020204030204" pitchFamily="34" charset="0"/>
          <a:ea typeface="+mj-ea"/>
          <a:cs typeface="Calibri" panose="020F0502020204030204" pitchFamily="34" charset="0"/>
        </a:defRPr>
      </a:lvl1pPr>
    </p:titleStyle>
    <p:bodyStyle>
      <a:lvl1pPr marL="0" indent="0" algn="l" defTabSz="914400" rtl="0" eaLnBrk="1" latinLnBrk="0" hangingPunct="1">
        <a:lnSpc>
          <a:spcPct val="90000"/>
        </a:lnSpc>
        <a:spcBef>
          <a:spcPts val="1000"/>
        </a:spcBef>
        <a:buFontTx/>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Ø"/>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Courier New" panose="02070309020205020404" pitchFamily="49" charset="0"/>
        <a:buChar char="o"/>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9.xml"/><Relationship Id="rId3" Type="http://schemas.openxmlformats.org/officeDocument/2006/relationships/image" Target="../media/image4.png"/><Relationship Id="rId7" Type="http://schemas.openxmlformats.org/officeDocument/2006/relationships/slide" Target="slide8.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slide" Target="slide4.xml"/><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slide" Target="slide17.xml"/></Relationships>
</file>

<file path=ppt/slides/_rels/slide3.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image" Target="../media/image8.png"/><Relationship Id="rId7"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customXml" Target="../ink/ink2.xml"/><Relationship Id="rId5" Type="http://schemas.openxmlformats.org/officeDocument/2006/relationships/image" Target="../media/image9.png"/><Relationship Id="rId4" Type="http://schemas.openxmlformats.org/officeDocument/2006/relationships/customXml" Target="../ink/ink1.xml"/><Relationship Id="rId9" Type="http://schemas.openxmlformats.org/officeDocument/2006/relationships/image" Target="../media/image11.png"/></Relationships>
</file>

<file path=ppt/slides/_rels/slide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p:cNvSpPr txBox="1"/>
          <p:nvPr/>
        </p:nvSpPr>
        <p:spPr>
          <a:xfrm>
            <a:off x="3810000" y="4837094"/>
            <a:ext cx="6858000" cy="954107"/>
          </a:xfrm>
          <a:prstGeom prst="rect">
            <a:avLst/>
          </a:prstGeom>
          <a:noFill/>
        </p:spPr>
        <p:txBody>
          <a:bodyPr wrap="square" rtlCol="0">
            <a:spAutoFit/>
          </a:bodyPr>
          <a:lstStyle/>
          <a:p>
            <a:pPr algn="ctr"/>
            <a:r>
              <a:rPr lang="en-US" sz="2800" b="1" dirty="0">
                <a:solidFill>
                  <a:srgbClr val="10245A"/>
                </a:solidFill>
                <a:latin typeface="Arial" panose="020B0604020202020204" pitchFamily="34" charset="0"/>
                <a:cs typeface="Arial" panose="020B0604020202020204" pitchFamily="34" charset="0"/>
              </a:rPr>
              <a:t>EL2 Authorized Reset application</a:t>
            </a:r>
          </a:p>
          <a:p>
            <a:pPr algn="ctr"/>
            <a:r>
              <a:rPr lang="en-US" sz="2800" b="1" dirty="0">
                <a:solidFill>
                  <a:srgbClr val="10245A"/>
                </a:solidFill>
                <a:latin typeface="Arial" panose="020B0604020202020204" pitchFamily="34" charset="0"/>
                <a:cs typeface="Arial" panose="020B0604020202020204" pitchFamily="34" charset="0"/>
              </a:rPr>
              <a:t>Date (2026.03.20)</a:t>
            </a:r>
          </a:p>
        </p:txBody>
      </p:sp>
    </p:spTree>
    <p:extLst>
      <p:ext uri="{BB962C8B-B14F-4D97-AF65-F5344CB8AC3E}">
        <p14:creationId xmlns:p14="http://schemas.microsoft.com/office/powerpoint/2010/main" val="16268216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130D7-9C55-DA1B-623A-3BBF3A5A94F1}"/>
              </a:ext>
            </a:extLst>
          </p:cNvPr>
          <p:cNvSpPr>
            <a:spLocks noGrp="1"/>
          </p:cNvSpPr>
          <p:nvPr>
            <p:ph type="title"/>
          </p:nvPr>
        </p:nvSpPr>
        <p:spPr/>
        <p:txBody>
          <a:bodyPr>
            <a:normAutofit fontScale="90000"/>
          </a:bodyPr>
          <a:lstStyle/>
          <a:p>
            <a:r>
              <a:rPr lang="en-US" dirty="0"/>
              <a:t>Table of Contents</a:t>
            </a:r>
          </a:p>
        </p:txBody>
      </p:sp>
      <mc:AlternateContent xmlns:mc="http://schemas.openxmlformats.org/markup-compatibility/2006">
        <mc:Choice xmlns:psuz="http://schemas.microsoft.com/office/powerpoint/2016/summaryzoom" Requires="psuz">
          <p:graphicFrame>
            <p:nvGraphicFramePr>
              <p:cNvPr id="5" name="Summary Zoom 4">
                <a:extLst>
                  <a:ext uri="{FF2B5EF4-FFF2-40B4-BE49-F238E27FC236}">
                    <a16:creationId xmlns:a16="http://schemas.microsoft.com/office/drawing/2014/main" id="{943BD2CD-4F69-A6F6-639A-F0351A23304C}"/>
                  </a:ext>
                </a:extLst>
              </p:cNvPr>
              <p:cNvGraphicFramePr>
                <a:graphicFrameLocks noChangeAspect="1"/>
              </p:cNvGraphicFramePr>
              <p:nvPr>
                <p:extLst>
                  <p:ext uri="{D42A27DB-BD31-4B8C-83A1-F6EECF244321}">
                    <p14:modId xmlns:p14="http://schemas.microsoft.com/office/powerpoint/2010/main" val="2681731825"/>
                  </p:ext>
                </p:extLst>
              </p:nvPr>
            </p:nvGraphicFramePr>
            <p:xfrm>
              <a:off x="168275" y="1063625"/>
              <a:ext cx="11774488" cy="5237163"/>
            </p:xfrm>
            <a:graphic>
              <a:graphicData uri="http://schemas.microsoft.com/office/powerpoint/2016/summaryzoom">
                <psuz:summaryZm>
                  <psuz:summaryZmObj sectionId="{7953E210-EE80-43B6-973A-E207864F8870}">
                    <psuz:zmPr id="{E98C7149-FC14-4FAF-B3AA-6D1EDFF7FADB}" transitionDur="1000">
                      <p166:blipFill xmlns:p166="http://schemas.microsoft.com/office/powerpoint/2016/6/main">
                        <a:blip r:embed="rId2"/>
                        <a:stretch>
                          <a:fillRect/>
                        </a:stretch>
                      </p166:blipFill>
                      <p166:spPr xmlns:p166="http://schemas.microsoft.com/office/powerpoint/2016/6/main">
                        <a:xfrm>
                          <a:off x="1618956" y="183301"/>
                          <a:ext cx="4189730" cy="2356723"/>
                        </a:xfrm>
                        <a:prstGeom prst="rect">
                          <a:avLst/>
                        </a:prstGeom>
                        <a:ln w="3175">
                          <a:solidFill>
                            <a:prstClr val="ltGray"/>
                          </a:solidFill>
                        </a:ln>
                      </p166:spPr>
                    </psuz:zmPr>
                  </psuz:summaryZmObj>
                  <psuz:summaryZmObj sectionId="{6CE7CD9C-2386-4479-8C34-F19D2C833D3C}">
                    <psuz:zmPr id="{D0F45D07-C124-4D11-B03C-8893A9020986}" transitionDur="1000">
                      <p166:blipFill xmlns:p166="http://schemas.microsoft.com/office/powerpoint/2016/6/main">
                        <a:blip r:embed="rId3"/>
                        <a:stretch>
                          <a:fillRect/>
                        </a:stretch>
                      </p166:blipFill>
                      <p166:spPr xmlns:p166="http://schemas.microsoft.com/office/powerpoint/2016/6/main">
                        <a:xfrm>
                          <a:off x="5965801" y="183301"/>
                          <a:ext cx="4189730" cy="2356723"/>
                        </a:xfrm>
                        <a:prstGeom prst="rect">
                          <a:avLst/>
                        </a:prstGeom>
                        <a:ln w="3175">
                          <a:solidFill>
                            <a:prstClr val="ltGray"/>
                          </a:solidFill>
                        </a:ln>
                      </p166:spPr>
                    </psuz:zmPr>
                  </psuz:summaryZmObj>
                  <psuz:summaryZmObj sectionId="{E059FA79-F2B9-477F-B036-1CA427A041EF}">
                    <psuz:zmPr id="{5CE593DE-D40B-447A-AD6D-5F32672A8373}" transitionDur="1000">
                      <p166:blipFill xmlns:p166="http://schemas.microsoft.com/office/powerpoint/2016/6/main">
                        <a:blip r:embed="rId4"/>
                        <a:stretch>
                          <a:fillRect/>
                        </a:stretch>
                      </p166:blipFill>
                      <p166:spPr xmlns:p166="http://schemas.microsoft.com/office/powerpoint/2016/6/main">
                        <a:xfrm>
                          <a:off x="1618956" y="2697139"/>
                          <a:ext cx="4189730" cy="2356723"/>
                        </a:xfrm>
                        <a:prstGeom prst="rect">
                          <a:avLst/>
                        </a:prstGeom>
                        <a:ln w="3175">
                          <a:solidFill>
                            <a:prstClr val="ltGray"/>
                          </a:solidFill>
                        </a:ln>
                      </p166:spPr>
                    </psuz:zmPr>
                  </psuz:summaryZmObj>
                  <psuz:summaryZmObj sectionId="{B3499BAD-9CFD-4299-BDA4-8843225530E5}">
                    <psuz:zmPr id="{0EAAD114-5700-427E-8753-9FEFF84B55F4}" transitionDur="1000">
                      <p166:blipFill xmlns:p166="http://schemas.microsoft.com/office/powerpoint/2016/6/main">
                        <a:blip r:embed="rId5"/>
                        <a:stretch>
                          <a:fillRect/>
                        </a:stretch>
                      </p166:blipFill>
                      <p166:spPr xmlns:p166="http://schemas.microsoft.com/office/powerpoint/2016/6/main">
                        <a:xfrm>
                          <a:off x="5965801" y="2697139"/>
                          <a:ext cx="4189730" cy="2356723"/>
                        </a:xfrm>
                        <a:prstGeom prst="rect">
                          <a:avLst/>
                        </a:prstGeom>
                        <a:ln w="3175">
                          <a:solidFill>
                            <a:prstClr val="ltGray"/>
                          </a:solidFill>
                        </a:ln>
                      </p166:spPr>
                    </psuz:zmPr>
                  </psuz:summaryZmObj>
                  <psuz:gridLayout/>
                </psuz:summaryZm>
              </a:graphicData>
            </a:graphic>
          </p:graphicFrame>
        </mc:Choice>
        <mc:Fallback>
          <p:grpSp>
            <p:nvGrpSpPr>
              <p:cNvPr id="5" name="Summary Zoom 4">
                <a:extLst>
                  <a:ext uri="{FF2B5EF4-FFF2-40B4-BE49-F238E27FC236}">
                    <a16:creationId xmlns:a16="http://schemas.microsoft.com/office/drawing/2014/main" id="{943BD2CD-4F69-A6F6-639A-F0351A23304C}"/>
                  </a:ext>
                </a:extLst>
              </p:cNvPr>
              <p:cNvGrpSpPr>
                <a:grpSpLocks noGrp="1" noUngrp="1" noRot="1" noChangeAspect="1" noMove="1" noResize="1"/>
              </p:cNvGrpSpPr>
              <p:nvPr/>
            </p:nvGrpSpPr>
            <p:grpSpPr>
              <a:xfrm>
                <a:off x="168275" y="1063625"/>
                <a:ext cx="11774488" cy="5237163"/>
                <a:chOff x="168275" y="1063625"/>
                <a:chExt cx="11774488" cy="5237163"/>
              </a:xfrm>
            </p:grpSpPr>
            <p:pic>
              <p:nvPicPr>
                <p:cNvPr id="4" name="Picture 4">
                  <a:hlinkClick r:id="rId6" action="ppaction://hlinksldjump"/>
                </p:cNvPr>
                <p:cNvPicPr>
                  <a:picLocks noSelect="1" noRot="1" noChangeAspect="1" noMove="1" noResize="1" noEditPoints="1" noAdjustHandles="1" noChangeArrowheads="1" noChangeShapeType="1"/>
                </p:cNvPicPr>
                <p:nvPr/>
              </p:nvPicPr>
              <p:blipFill>
                <a:blip r:embed="rId2"/>
                <a:stretch>
                  <a:fillRect/>
                </a:stretch>
              </p:blipFill>
              <p:spPr>
                <a:xfrm>
                  <a:off x="1787231" y="1246926"/>
                  <a:ext cx="4189730" cy="2356723"/>
                </a:xfrm>
                <a:prstGeom prst="rect">
                  <a:avLst/>
                </a:prstGeom>
                <a:ln w="3175">
                  <a:solidFill>
                    <a:prstClr val="ltGray"/>
                  </a:solidFill>
                </a:ln>
              </p:spPr>
            </p:pic>
            <p:pic>
              <p:nvPicPr>
                <p:cNvPr id="7" name="Picture 7">
                  <a:hlinkClick r:id="rId7" action="ppaction://hlinksldjump"/>
                </p:cNvPr>
                <p:cNvPicPr>
                  <a:picLocks noSelect="1" noRot="1" noChangeAspect="1" noMove="1" noResize="1" noEditPoints="1" noAdjustHandles="1" noChangeArrowheads="1" noChangeShapeType="1"/>
                </p:cNvPicPr>
                <p:nvPr/>
              </p:nvPicPr>
              <p:blipFill>
                <a:blip r:embed="rId3"/>
                <a:stretch>
                  <a:fillRect/>
                </a:stretch>
              </p:blipFill>
              <p:spPr>
                <a:xfrm>
                  <a:off x="6134076" y="1246926"/>
                  <a:ext cx="4189730" cy="2356723"/>
                </a:xfrm>
                <a:prstGeom prst="rect">
                  <a:avLst/>
                </a:prstGeom>
                <a:ln w="3175">
                  <a:solidFill>
                    <a:prstClr val="ltGray"/>
                  </a:solidFill>
                </a:ln>
              </p:spPr>
            </p:pic>
            <p:pic>
              <p:nvPicPr>
                <p:cNvPr id="8" name="Picture 8">
                  <a:hlinkClick r:id="rId8" action="ppaction://hlinksldjump"/>
                </p:cNvPr>
                <p:cNvPicPr>
                  <a:picLocks noSelect="1" noRot="1" noChangeAspect="1" noMove="1" noResize="1" noEditPoints="1" noAdjustHandles="1" noChangeArrowheads="1" noChangeShapeType="1"/>
                </p:cNvPicPr>
                <p:nvPr/>
              </p:nvPicPr>
              <p:blipFill>
                <a:blip r:embed="rId4"/>
                <a:stretch>
                  <a:fillRect/>
                </a:stretch>
              </p:blipFill>
              <p:spPr>
                <a:xfrm>
                  <a:off x="1787231" y="3760764"/>
                  <a:ext cx="4189730" cy="2356723"/>
                </a:xfrm>
                <a:prstGeom prst="rect">
                  <a:avLst/>
                </a:prstGeom>
                <a:ln w="3175">
                  <a:solidFill>
                    <a:prstClr val="ltGray"/>
                  </a:solidFill>
                </a:ln>
              </p:spPr>
            </p:pic>
            <p:pic>
              <p:nvPicPr>
                <p:cNvPr id="10" name="Picture 10">
                  <a:hlinkClick r:id="rId9" action="ppaction://hlinksldjump"/>
                </p:cNvPr>
                <p:cNvPicPr>
                  <a:picLocks noSelect="1" noRot="1" noChangeAspect="1" noMove="1" noResize="1" noEditPoints="1" noAdjustHandles="1" noChangeArrowheads="1" noChangeShapeType="1"/>
                </p:cNvPicPr>
                <p:nvPr/>
              </p:nvPicPr>
              <p:blipFill>
                <a:blip r:embed="rId5"/>
                <a:stretch>
                  <a:fillRect/>
                </a:stretch>
              </p:blipFill>
              <p:spPr>
                <a:xfrm>
                  <a:off x="6134076" y="3760764"/>
                  <a:ext cx="4189730" cy="2356723"/>
                </a:xfrm>
                <a:prstGeom prst="rect">
                  <a:avLst/>
                </a:prstGeom>
                <a:ln w="3175">
                  <a:solidFill>
                    <a:prstClr val="ltGray"/>
                  </a:solidFill>
                </a:ln>
              </p:spPr>
            </p:pic>
          </p:grpSp>
        </mc:Fallback>
      </mc:AlternateContent>
      <p:sp>
        <p:nvSpPr>
          <p:cNvPr id="3" name="TextBox 2">
            <a:extLst>
              <a:ext uri="{FF2B5EF4-FFF2-40B4-BE49-F238E27FC236}">
                <a16:creationId xmlns:a16="http://schemas.microsoft.com/office/drawing/2014/main" id="{169E81B7-0EEF-BD7F-5B6E-79EB21AD1318}"/>
              </a:ext>
            </a:extLst>
          </p:cNvPr>
          <p:cNvSpPr txBox="1"/>
          <p:nvPr/>
        </p:nvSpPr>
        <p:spPr>
          <a:xfrm>
            <a:off x="0" y="4411524"/>
            <a:ext cx="1533525" cy="1200329"/>
          </a:xfrm>
          <a:prstGeom prst="rect">
            <a:avLst/>
          </a:prstGeom>
          <a:noFill/>
        </p:spPr>
        <p:txBody>
          <a:bodyPr wrap="square" rtlCol="0">
            <a:spAutoFit/>
          </a:bodyPr>
          <a:lstStyle/>
          <a:p>
            <a:r>
              <a:rPr lang="en-US" dirty="0">
                <a:solidFill>
                  <a:schemeClr val="accent5">
                    <a:lumMod val="60000"/>
                    <a:lumOff val="40000"/>
                  </a:schemeClr>
                </a:solidFill>
              </a:rPr>
              <a:t>If you’re an admin, you’ll be interested in this one</a:t>
            </a:r>
          </a:p>
        </p:txBody>
      </p:sp>
      <p:cxnSp>
        <p:nvCxnSpPr>
          <p:cNvPr id="6" name="Straight Arrow Connector 5">
            <a:extLst>
              <a:ext uri="{FF2B5EF4-FFF2-40B4-BE49-F238E27FC236}">
                <a16:creationId xmlns:a16="http://schemas.microsoft.com/office/drawing/2014/main" id="{06A55F69-102E-91FC-9F94-AE559EFE0D8C}"/>
              </a:ext>
            </a:extLst>
          </p:cNvPr>
          <p:cNvCxnSpPr>
            <a:cxnSpLocks/>
            <a:stCxn id="3" idx="3"/>
          </p:cNvCxnSpPr>
          <p:nvPr/>
        </p:nvCxnSpPr>
        <p:spPr>
          <a:xfrm>
            <a:off x="1533525" y="5011689"/>
            <a:ext cx="26479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7D9C37FE-FBD9-D91F-B2AD-D0524F04DC3A}"/>
              </a:ext>
            </a:extLst>
          </p:cNvPr>
          <p:cNvSpPr txBox="1"/>
          <p:nvPr/>
        </p:nvSpPr>
        <p:spPr>
          <a:xfrm>
            <a:off x="1" y="1733144"/>
            <a:ext cx="1432874" cy="923330"/>
          </a:xfrm>
          <a:prstGeom prst="rect">
            <a:avLst/>
          </a:prstGeom>
          <a:noFill/>
        </p:spPr>
        <p:txBody>
          <a:bodyPr wrap="square" rtlCol="0">
            <a:spAutoFit/>
          </a:bodyPr>
          <a:lstStyle/>
          <a:p>
            <a:r>
              <a:rPr lang="en-US" dirty="0">
                <a:solidFill>
                  <a:schemeClr val="accent5">
                    <a:lumMod val="60000"/>
                    <a:lumOff val="40000"/>
                  </a:schemeClr>
                </a:solidFill>
              </a:rPr>
              <a:t>If you’re just browsing, start here</a:t>
            </a:r>
          </a:p>
        </p:txBody>
      </p:sp>
      <p:cxnSp>
        <p:nvCxnSpPr>
          <p:cNvPr id="11" name="Straight Arrow Connector 10">
            <a:extLst>
              <a:ext uri="{FF2B5EF4-FFF2-40B4-BE49-F238E27FC236}">
                <a16:creationId xmlns:a16="http://schemas.microsoft.com/office/drawing/2014/main" id="{549C042C-B087-5A9D-B8DD-7324A94C22B1}"/>
              </a:ext>
            </a:extLst>
          </p:cNvPr>
          <p:cNvCxnSpPr/>
          <p:nvPr/>
        </p:nvCxnSpPr>
        <p:spPr>
          <a:xfrm>
            <a:off x="1432874" y="2186940"/>
            <a:ext cx="36544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970035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775E653A-1F2C-7515-6231-5C63048BE374}"/>
              </a:ext>
            </a:extLst>
          </p:cNvPr>
          <p:cNvPicPr>
            <a:picLocks noChangeAspect="1"/>
          </p:cNvPicPr>
          <p:nvPr/>
        </p:nvPicPr>
        <p:blipFill>
          <a:blip r:embed="rId2"/>
          <a:stretch>
            <a:fillRect/>
          </a:stretch>
        </p:blipFill>
        <p:spPr>
          <a:xfrm>
            <a:off x="0" y="1447280"/>
            <a:ext cx="3814039" cy="3050074"/>
          </a:xfrm>
          <a:prstGeom prst="rect">
            <a:avLst/>
          </a:prstGeom>
        </p:spPr>
      </p:pic>
      <p:sp>
        <p:nvSpPr>
          <p:cNvPr id="2" name="Title 1">
            <a:extLst>
              <a:ext uri="{FF2B5EF4-FFF2-40B4-BE49-F238E27FC236}">
                <a16:creationId xmlns:a16="http://schemas.microsoft.com/office/drawing/2014/main" id="{90C15B8B-FD74-3457-0058-6B72C718FC12}"/>
              </a:ext>
            </a:extLst>
          </p:cNvPr>
          <p:cNvSpPr>
            <a:spLocks noGrp="1"/>
          </p:cNvSpPr>
          <p:nvPr>
            <p:ph type="title"/>
          </p:nvPr>
        </p:nvSpPr>
        <p:spPr/>
        <p:txBody>
          <a:bodyPr>
            <a:normAutofit fontScale="90000"/>
          </a:bodyPr>
          <a:lstStyle/>
          <a:p>
            <a:r>
              <a:rPr lang="en-US" dirty="0"/>
              <a:t>Explaining lockout level</a:t>
            </a:r>
          </a:p>
        </p:txBody>
      </p:sp>
      <p:sp>
        <p:nvSpPr>
          <p:cNvPr id="3" name="Content Placeholder 2">
            <a:extLst>
              <a:ext uri="{FF2B5EF4-FFF2-40B4-BE49-F238E27FC236}">
                <a16:creationId xmlns:a16="http://schemas.microsoft.com/office/drawing/2014/main" id="{577B4AC3-A066-5F92-2220-302F93D941FD}"/>
              </a:ext>
            </a:extLst>
          </p:cNvPr>
          <p:cNvSpPr>
            <a:spLocks noGrp="1"/>
          </p:cNvSpPr>
          <p:nvPr>
            <p:ph idx="1"/>
          </p:nvPr>
        </p:nvSpPr>
        <p:spPr>
          <a:xfrm>
            <a:off x="0" y="4622275"/>
            <a:ext cx="12192000" cy="2235726"/>
          </a:xfrm>
        </p:spPr>
        <p:txBody>
          <a:bodyPr>
            <a:normAutofit/>
          </a:bodyPr>
          <a:lstStyle/>
          <a:p>
            <a:pPr marL="457200" indent="-457200">
              <a:buFont typeface="Arial" panose="020B0604020202020204" pitchFamily="34" charset="0"/>
              <a:buChar char="•"/>
            </a:pPr>
            <a:r>
              <a:rPr lang="en-US" sz="2000" b="0" dirty="0"/>
              <a:t>When an associate is authorized for a line, their authority </a:t>
            </a:r>
            <a:r>
              <a:rPr lang="en-US" sz="2000" b="0" i="1" dirty="0"/>
              <a:t>for that line</a:t>
            </a:r>
            <a:r>
              <a:rPr lang="en-US" sz="2000" b="0" dirty="0"/>
              <a:t> is described by a number 0-255 (but usually 0-25). This is their “auth level”.</a:t>
            </a:r>
          </a:p>
          <a:p>
            <a:pPr marL="457200" indent="-457200">
              <a:buFont typeface="Arial" panose="020B0604020202020204" pitchFamily="34" charset="0"/>
              <a:buChar char="•"/>
            </a:pPr>
            <a:r>
              <a:rPr lang="en-US" sz="2000" b="0" dirty="0"/>
              <a:t>Lockout level is determined at the time of lockout. It corresponds to the rank of the defect. Lockout level 0 means anyone authorized on the line can reset.</a:t>
            </a:r>
          </a:p>
          <a:p>
            <a:pPr marL="457200" indent="-457200">
              <a:buFont typeface="Arial" panose="020B0604020202020204" pitchFamily="34" charset="0"/>
              <a:buChar char="•"/>
            </a:pPr>
            <a:r>
              <a:rPr lang="en-US" sz="2000" b="0" dirty="0"/>
              <a:t>To release a lockout, the associate performing the reset must have an auth level greater than or equal to the lockout level. Insufficient auth level is identical to not being authorized on the line at all.</a:t>
            </a:r>
          </a:p>
        </p:txBody>
      </p:sp>
      <p:pic>
        <p:nvPicPr>
          <p:cNvPr id="13" name="Picture 12">
            <a:extLst>
              <a:ext uri="{FF2B5EF4-FFF2-40B4-BE49-F238E27FC236}">
                <a16:creationId xmlns:a16="http://schemas.microsoft.com/office/drawing/2014/main" id="{0D971B86-AE10-34BC-A04D-7E94E522D1C3}"/>
              </a:ext>
            </a:extLst>
          </p:cNvPr>
          <p:cNvPicPr>
            <a:picLocks noChangeAspect="1"/>
          </p:cNvPicPr>
          <p:nvPr/>
        </p:nvPicPr>
        <p:blipFill>
          <a:blip r:embed="rId3"/>
          <a:stretch>
            <a:fillRect/>
          </a:stretch>
        </p:blipFill>
        <p:spPr>
          <a:xfrm>
            <a:off x="3007151" y="905060"/>
            <a:ext cx="9169298" cy="1330666"/>
          </a:xfrm>
          <a:prstGeom prst="rect">
            <a:avLst/>
          </a:prstGeom>
        </p:spPr>
      </p:pic>
      <p:sp>
        <p:nvSpPr>
          <p:cNvPr id="14" name="TextBox 13">
            <a:extLst>
              <a:ext uri="{FF2B5EF4-FFF2-40B4-BE49-F238E27FC236}">
                <a16:creationId xmlns:a16="http://schemas.microsoft.com/office/drawing/2014/main" id="{B487F096-C336-4053-BDC4-AB939FF7CDDA}"/>
              </a:ext>
            </a:extLst>
          </p:cNvPr>
          <p:cNvSpPr txBox="1"/>
          <p:nvPr/>
        </p:nvSpPr>
        <p:spPr>
          <a:xfrm>
            <a:off x="4033120" y="2766375"/>
            <a:ext cx="7081082" cy="923330"/>
          </a:xfrm>
          <a:prstGeom prst="rect">
            <a:avLst/>
          </a:prstGeom>
          <a:noFill/>
        </p:spPr>
        <p:txBody>
          <a:bodyPr wrap="square" rtlCol="0">
            <a:spAutoFit/>
          </a:bodyPr>
          <a:lstStyle/>
          <a:p>
            <a:r>
              <a:rPr lang="en-US" dirty="0">
                <a:solidFill>
                  <a:schemeClr val="accent5">
                    <a:lumMod val="60000"/>
                    <a:lumOff val="40000"/>
                  </a:schemeClr>
                </a:solidFill>
              </a:rPr>
              <a:t>In this scenario, a machine on the base EL 2 line was awaiting a reset with lockout level 8. I’m authorized to reset the base EL 2 line, but my reset request was denied because my auth level on that line is only 5.</a:t>
            </a:r>
          </a:p>
        </p:txBody>
      </p:sp>
      <mc:AlternateContent xmlns:mc="http://schemas.openxmlformats.org/markup-compatibility/2006" xmlns:p14="http://schemas.microsoft.com/office/powerpoint/2010/main">
        <mc:Choice Requires="p14">
          <p:contentPart p14:bwMode="auto" r:id="rId4">
            <p14:nvContentPartPr>
              <p14:cNvPr id="16" name="Ink 15">
                <a:extLst>
                  <a:ext uri="{FF2B5EF4-FFF2-40B4-BE49-F238E27FC236}">
                    <a16:creationId xmlns:a16="http://schemas.microsoft.com/office/drawing/2014/main" id="{301C84D1-FF3F-C02C-7EB8-73522427BBD6}"/>
                  </a:ext>
                </a:extLst>
              </p14:cNvPr>
              <p14:cNvContentPartPr/>
              <p14:nvPr/>
            </p14:nvContentPartPr>
            <p14:xfrm>
              <a:off x="4781210" y="1739370"/>
              <a:ext cx="203040" cy="13320"/>
            </p14:xfrm>
          </p:contentPart>
        </mc:Choice>
        <mc:Fallback xmlns="">
          <p:pic>
            <p:nvPicPr>
              <p:cNvPr id="16" name="Ink 15">
                <a:extLst>
                  <a:ext uri="{FF2B5EF4-FFF2-40B4-BE49-F238E27FC236}">
                    <a16:creationId xmlns:a16="http://schemas.microsoft.com/office/drawing/2014/main" id="{301C84D1-FF3F-C02C-7EB8-73522427BBD6}"/>
                  </a:ext>
                </a:extLst>
              </p:cNvPr>
              <p:cNvPicPr/>
              <p:nvPr/>
            </p:nvPicPr>
            <p:blipFill>
              <a:blip r:embed="rId5"/>
              <a:stretch>
                <a:fillRect/>
              </a:stretch>
            </p:blipFill>
            <p:spPr>
              <a:xfrm>
                <a:off x="4727570" y="1631730"/>
                <a:ext cx="310680" cy="2289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8" name="Ink 17">
                <a:extLst>
                  <a:ext uri="{FF2B5EF4-FFF2-40B4-BE49-F238E27FC236}">
                    <a16:creationId xmlns:a16="http://schemas.microsoft.com/office/drawing/2014/main" id="{F7B69177-0DC9-39BA-C209-4EE55D407269}"/>
                  </a:ext>
                </a:extLst>
              </p14:cNvPr>
              <p14:cNvContentPartPr/>
              <p14:nvPr/>
            </p14:nvContentPartPr>
            <p14:xfrm>
              <a:off x="11525090" y="1980930"/>
              <a:ext cx="267120" cy="360"/>
            </p14:xfrm>
          </p:contentPart>
        </mc:Choice>
        <mc:Fallback xmlns="">
          <p:pic>
            <p:nvPicPr>
              <p:cNvPr id="18" name="Ink 17">
                <a:extLst>
                  <a:ext uri="{FF2B5EF4-FFF2-40B4-BE49-F238E27FC236}">
                    <a16:creationId xmlns:a16="http://schemas.microsoft.com/office/drawing/2014/main" id="{F7B69177-0DC9-39BA-C209-4EE55D407269}"/>
                  </a:ext>
                </a:extLst>
              </p:cNvPr>
              <p:cNvPicPr/>
              <p:nvPr/>
            </p:nvPicPr>
            <p:blipFill>
              <a:blip r:embed="rId7"/>
              <a:stretch>
                <a:fillRect/>
              </a:stretch>
            </p:blipFill>
            <p:spPr>
              <a:xfrm>
                <a:off x="11471090" y="1872930"/>
                <a:ext cx="37476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9" name="Ink 18">
                <a:extLst>
                  <a:ext uri="{FF2B5EF4-FFF2-40B4-BE49-F238E27FC236}">
                    <a16:creationId xmlns:a16="http://schemas.microsoft.com/office/drawing/2014/main" id="{2930BFF6-F573-EDCE-8F87-EE8DC8372A1F}"/>
                  </a:ext>
                </a:extLst>
              </p14:cNvPr>
              <p14:cNvContentPartPr/>
              <p14:nvPr/>
            </p14:nvContentPartPr>
            <p14:xfrm>
              <a:off x="2713315" y="3366539"/>
              <a:ext cx="145800" cy="360"/>
            </p14:xfrm>
          </p:contentPart>
        </mc:Choice>
        <mc:Fallback xmlns="">
          <p:pic>
            <p:nvPicPr>
              <p:cNvPr id="19" name="Ink 18">
                <a:extLst>
                  <a:ext uri="{FF2B5EF4-FFF2-40B4-BE49-F238E27FC236}">
                    <a16:creationId xmlns:a16="http://schemas.microsoft.com/office/drawing/2014/main" id="{2930BFF6-F573-EDCE-8F87-EE8DC8372A1F}"/>
                  </a:ext>
                </a:extLst>
              </p:cNvPr>
              <p:cNvPicPr/>
              <p:nvPr/>
            </p:nvPicPr>
            <p:blipFill>
              <a:blip r:embed="rId9"/>
              <a:stretch>
                <a:fillRect/>
              </a:stretch>
            </p:blipFill>
            <p:spPr>
              <a:xfrm>
                <a:off x="2659315" y="3258899"/>
                <a:ext cx="253440" cy="216000"/>
              </a:xfrm>
              <a:prstGeom prst="rect">
                <a:avLst/>
              </a:prstGeom>
            </p:spPr>
          </p:pic>
        </mc:Fallback>
      </mc:AlternateContent>
    </p:spTree>
    <p:extLst>
      <p:ext uri="{BB962C8B-B14F-4D97-AF65-F5344CB8AC3E}">
        <p14:creationId xmlns:p14="http://schemas.microsoft.com/office/powerpoint/2010/main" val="9396100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2737D05-7133-2C5D-6738-52E3A415A52B}"/>
              </a:ext>
            </a:extLst>
          </p:cNvPr>
          <p:cNvPicPr>
            <a:picLocks noChangeAspect="1"/>
          </p:cNvPicPr>
          <p:nvPr/>
        </p:nvPicPr>
        <p:blipFill>
          <a:blip r:embed="rId2"/>
          <a:stretch>
            <a:fillRect/>
          </a:stretch>
        </p:blipFill>
        <p:spPr>
          <a:xfrm>
            <a:off x="293204" y="896378"/>
            <a:ext cx="11546862" cy="5788568"/>
          </a:xfrm>
          <a:prstGeom prst="rect">
            <a:avLst/>
          </a:prstGeom>
        </p:spPr>
      </p:pic>
      <p:sp>
        <p:nvSpPr>
          <p:cNvPr id="2" name="Title 1">
            <a:extLst>
              <a:ext uri="{FF2B5EF4-FFF2-40B4-BE49-F238E27FC236}">
                <a16:creationId xmlns:a16="http://schemas.microsoft.com/office/drawing/2014/main" id="{E6508E0A-92CC-03AA-E9FC-0AE175DD53D4}"/>
              </a:ext>
            </a:extLst>
          </p:cNvPr>
          <p:cNvSpPr>
            <a:spLocks noGrp="1"/>
          </p:cNvSpPr>
          <p:nvPr>
            <p:ph type="title"/>
          </p:nvPr>
        </p:nvSpPr>
        <p:spPr>
          <a:xfrm>
            <a:off x="2474834" y="216473"/>
            <a:ext cx="7007289" cy="679904"/>
          </a:xfrm>
        </p:spPr>
        <p:txBody>
          <a:bodyPr anchor="t">
            <a:normAutofit/>
          </a:bodyPr>
          <a:lstStyle/>
          <a:p>
            <a:r>
              <a:rPr lang="en-US" sz="4100" dirty="0"/>
              <a:t>Splash screen/historical page</a:t>
            </a:r>
          </a:p>
        </p:txBody>
      </p:sp>
      <p:sp>
        <p:nvSpPr>
          <p:cNvPr id="31" name="Rectangle 30">
            <a:extLst>
              <a:ext uri="{FF2B5EF4-FFF2-40B4-BE49-F238E27FC236}">
                <a16:creationId xmlns:a16="http://schemas.microsoft.com/office/drawing/2014/main" id="{99BA3C0F-6709-F8EE-5313-3A36EBA822C1}"/>
              </a:ext>
            </a:extLst>
          </p:cNvPr>
          <p:cNvSpPr/>
          <p:nvPr/>
        </p:nvSpPr>
        <p:spPr>
          <a:xfrm>
            <a:off x="421958" y="1343025"/>
            <a:ext cx="1376362" cy="1461135"/>
          </a:xfrm>
          <a:prstGeom prst="rect">
            <a:avLst/>
          </a:prstGeom>
          <a:noFill/>
          <a:ln w="381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32" name="TextBox 31">
            <a:extLst>
              <a:ext uri="{FF2B5EF4-FFF2-40B4-BE49-F238E27FC236}">
                <a16:creationId xmlns:a16="http://schemas.microsoft.com/office/drawing/2014/main" id="{03DDC293-2183-E404-A471-B4F3BB7228F6}"/>
              </a:ext>
            </a:extLst>
          </p:cNvPr>
          <p:cNvSpPr txBox="1"/>
          <p:nvPr/>
        </p:nvSpPr>
        <p:spPr>
          <a:xfrm>
            <a:off x="760545" y="3228945"/>
            <a:ext cx="1294500" cy="400110"/>
          </a:xfrm>
          <a:prstGeom prst="rect">
            <a:avLst/>
          </a:prstGeom>
          <a:noFill/>
        </p:spPr>
        <p:txBody>
          <a:bodyPr wrap="square" rtlCol="0">
            <a:spAutoFit/>
          </a:bodyPr>
          <a:lstStyle/>
          <a:p>
            <a:r>
              <a:rPr lang="en-US" sz="1000" dirty="0">
                <a:solidFill>
                  <a:schemeClr val="accent5">
                    <a:lumMod val="60000"/>
                    <a:lumOff val="40000"/>
                  </a:schemeClr>
                </a:solidFill>
              </a:rPr>
              <a:t>Click to navigate between pages</a:t>
            </a:r>
          </a:p>
        </p:txBody>
      </p:sp>
      <p:cxnSp>
        <p:nvCxnSpPr>
          <p:cNvPr id="34" name="Connector: Elbow 33">
            <a:extLst>
              <a:ext uri="{FF2B5EF4-FFF2-40B4-BE49-F238E27FC236}">
                <a16:creationId xmlns:a16="http://schemas.microsoft.com/office/drawing/2014/main" id="{49DD986E-ACA2-1337-774D-D0AF1A6152BA}"/>
              </a:ext>
            </a:extLst>
          </p:cNvPr>
          <p:cNvCxnSpPr>
            <a:cxnSpLocks/>
            <a:stCxn id="32" idx="0"/>
            <a:endCxn id="31" idx="2"/>
          </p:cNvCxnSpPr>
          <p:nvPr/>
        </p:nvCxnSpPr>
        <p:spPr>
          <a:xfrm rot="16200000" flipV="1">
            <a:off x="1046575" y="2867725"/>
            <a:ext cx="424785" cy="297656"/>
          </a:xfrm>
          <a:prstGeom prst="bentConnector3">
            <a:avLst>
              <a:gd name="adj1" fmla="val 50000"/>
            </a:avLst>
          </a:prstGeom>
          <a:ln>
            <a:tailEnd type="triangle"/>
          </a:ln>
        </p:spPr>
        <p:style>
          <a:lnRef idx="2">
            <a:schemeClr val="accent2"/>
          </a:lnRef>
          <a:fillRef idx="0">
            <a:schemeClr val="accent2"/>
          </a:fillRef>
          <a:effectRef idx="1">
            <a:schemeClr val="accent2"/>
          </a:effectRef>
          <a:fontRef idx="minor">
            <a:schemeClr val="tx1"/>
          </a:fontRef>
        </p:style>
      </p:cxnSp>
      <p:sp>
        <p:nvSpPr>
          <p:cNvPr id="15" name="TextBox 14">
            <a:extLst>
              <a:ext uri="{FF2B5EF4-FFF2-40B4-BE49-F238E27FC236}">
                <a16:creationId xmlns:a16="http://schemas.microsoft.com/office/drawing/2014/main" id="{1237B189-94A5-8E5F-B72A-53D301A94D26}"/>
              </a:ext>
            </a:extLst>
          </p:cNvPr>
          <p:cNvSpPr txBox="1"/>
          <p:nvPr/>
        </p:nvSpPr>
        <p:spPr>
          <a:xfrm>
            <a:off x="6815901" y="1263945"/>
            <a:ext cx="3902044" cy="246221"/>
          </a:xfrm>
          <a:prstGeom prst="rect">
            <a:avLst/>
          </a:prstGeom>
          <a:noFill/>
        </p:spPr>
        <p:txBody>
          <a:bodyPr wrap="square" rtlCol="0">
            <a:spAutoFit/>
          </a:bodyPr>
          <a:lstStyle/>
          <a:p>
            <a:r>
              <a:rPr lang="en-US" sz="1000" dirty="0">
                <a:solidFill>
                  <a:schemeClr val="accent5">
                    <a:lumMod val="60000"/>
                    <a:lumOff val="40000"/>
                  </a:schemeClr>
                </a:solidFill>
              </a:rPr>
              <a:t>These search their field for everything that </a:t>
            </a:r>
            <a:r>
              <a:rPr lang="en-US" sz="1000" b="1" dirty="0">
                <a:solidFill>
                  <a:schemeClr val="accent5">
                    <a:lumMod val="60000"/>
                    <a:lumOff val="40000"/>
                  </a:schemeClr>
                </a:solidFill>
              </a:rPr>
              <a:t>contains</a:t>
            </a:r>
            <a:r>
              <a:rPr lang="en-US" sz="1000" dirty="0">
                <a:solidFill>
                  <a:schemeClr val="accent5">
                    <a:lumMod val="60000"/>
                    <a:lumOff val="40000"/>
                  </a:schemeClr>
                </a:solidFill>
              </a:rPr>
              <a:t> your input</a:t>
            </a:r>
          </a:p>
        </p:txBody>
      </p:sp>
      <p:sp>
        <p:nvSpPr>
          <p:cNvPr id="16" name="TextBox 15">
            <a:extLst>
              <a:ext uri="{FF2B5EF4-FFF2-40B4-BE49-F238E27FC236}">
                <a16:creationId xmlns:a16="http://schemas.microsoft.com/office/drawing/2014/main" id="{B8EE368C-CDA1-945F-61C4-B38F20B47673}"/>
              </a:ext>
            </a:extLst>
          </p:cNvPr>
          <p:cNvSpPr txBox="1"/>
          <p:nvPr/>
        </p:nvSpPr>
        <p:spPr>
          <a:xfrm>
            <a:off x="7671844" y="2737749"/>
            <a:ext cx="2821733" cy="400110"/>
          </a:xfrm>
          <a:prstGeom prst="rect">
            <a:avLst/>
          </a:prstGeom>
          <a:noFill/>
        </p:spPr>
        <p:txBody>
          <a:bodyPr wrap="square" rtlCol="0">
            <a:spAutoFit/>
          </a:bodyPr>
          <a:lstStyle/>
          <a:p>
            <a:r>
              <a:rPr lang="en-US" sz="1000" dirty="0">
                <a:solidFill>
                  <a:schemeClr val="accent5">
                    <a:lumMod val="60000"/>
                    <a:lumOff val="40000"/>
                  </a:schemeClr>
                </a:solidFill>
              </a:rPr>
              <a:t>If a lockout hasn’t been released, it won’t show up when filtering by reset date or </a:t>
            </a:r>
            <a:r>
              <a:rPr lang="en-US" sz="1000" dirty="0" err="1">
                <a:solidFill>
                  <a:schemeClr val="accent5">
                    <a:lumMod val="60000"/>
                    <a:lumOff val="40000"/>
                  </a:schemeClr>
                </a:solidFill>
              </a:rPr>
              <a:t>resetter</a:t>
            </a:r>
            <a:r>
              <a:rPr lang="en-US" sz="1000" dirty="0">
                <a:solidFill>
                  <a:schemeClr val="accent5">
                    <a:lumMod val="60000"/>
                    <a:lumOff val="40000"/>
                  </a:schemeClr>
                </a:solidFill>
              </a:rPr>
              <a:t> name</a:t>
            </a:r>
          </a:p>
        </p:txBody>
      </p:sp>
      <p:sp>
        <p:nvSpPr>
          <p:cNvPr id="17" name="TextBox 16">
            <a:extLst>
              <a:ext uri="{FF2B5EF4-FFF2-40B4-BE49-F238E27FC236}">
                <a16:creationId xmlns:a16="http://schemas.microsoft.com/office/drawing/2014/main" id="{3943EA91-ABF2-0805-8423-B802BC5668D3}"/>
              </a:ext>
            </a:extLst>
          </p:cNvPr>
          <p:cNvSpPr txBox="1"/>
          <p:nvPr/>
        </p:nvSpPr>
        <p:spPr>
          <a:xfrm>
            <a:off x="2046977" y="1542999"/>
            <a:ext cx="1800421" cy="246221"/>
          </a:xfrm>
          <a:prstGeom prst="rect">
            <a:avLst/>
          </a:prstGeom>
          <a:noFill/>
        </p:spPr>
        <p:txBody>
          <a:bodyPr wrap="square" rtlCol="0">
            <a:spAutoFit/>
          </a:bodyPr>
          <a:lstStyle/>
          <a:p>
            <a:r>
              <a:rPr lang="en-US" sz="1000" dirty="0">
                <a:solidFill>
                  <a:schemeClr val="accent5">
                    <a:lumMod val="60000"/>
                    <a:lumOff val="40000"/>
                  </a:schemeClr>
                </a:solidFill>
              </a:rPr>
              <a:t>This one needs the full CMMS</a:t>
            </a:r>
          </a:p>
        </p:txBody>
      </p:sp>
      <p:sp>
        <p:nvSpPr>
          <p:cNvPr id="18" name="Left Brace 17">
            <a:extLst>
              <a:ext uri="{FF2B5EF4-FFF2-40B4-BE49-F238E27FC236}">
                <a16:creationId xmlns:a16="http://schemas.microsoft.com/office/drawing/2014/main" id="{5C9F22FC-28FD-892F-FE16-BFCE64D8AEA1}"/>
              </a:ext>
            </a:extLst>
          </p:cNvPr>
          <p:cNvSpPr/>
          <p:nvPr/>
        </p:nvSpPr>
        <p:spPr>
          <a:xfrm rot="5400000">
            <a:off x="8981348" y="-655277"/>
            <a:ext cx="246222" cy="4577116"/>
          </a:xfrm>
          <a:prstGeom prst="leftBrace">
            <a:avLst>
              <a:gd name="adj1" fmla="val 82443"/>
              <a:gd name="adj2" fmla="val 5000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0" name="TextBox 19">
            <a:extLst>
              <a:ext uri="{FF2B5EF4-FFF2-40B4-BE49-F238E27FC236}">
                <a16:creationId xmlns:a16="http://schemas.microsoft.com/office/drawing/2014/main" id="{6508F6DD-9B6E-386A-76F4-65DDAA46A32E}"/>
              </a:ext>
            </a:extLst>
          </p:cNvPr>
          <p:cNvSpPr txBox="1"/>
          <p:nvPr/>
        </p:nvSpPr>
        <p:spPr>
          <a:xfrm>
            <a:off x="3442142" y="2758024"/>
            <a:ext cx="3910628" cy="400110"/>
          </a:xfrm>
          <a:prstGeom prst="rect">
            <a:avLst/>
          </a:prstGeom>
          <a:noFill/>
        </p:spPr>
        <p:txBody>
          <a:bodyPr wrap="square" rtlCol="0">
            <a:spAutoFit/>
          </a:bodyPr>
          <a:lstStyle/>
          <a:p>
            <a:r>
              <a:rPr lang="en-US" sz="1000" dirty="0">
                <a:solidFill>
                  <a:schemeClr val="accent5">
                    <a:lumMod val="60000"/>
                    <a:lumOff val="40000"/>
                  </a:schemeClr>
                </a:solidFill>
              </a:rPr>
              <a:t>The date filters (all four) require both a date and time. Just provide the start/end of the day to include/exclude it as desired</a:t>
            </a:r>
          </a:p>
        </p:txBody>
      </p:sp>
      <p:sp>
        <p:nvSpPr>
          <p:cNvPr id="7" name="TextBox 6">
            <a:extLst>
              <a:ext uri="{FF2B5EF4-FFF2-40B4-BE49-F238E27FC236}">
                <a16:creationId xmlns:a16="http://schemas.microsoft.com/office/drawing/2014/main" id="{65CB9DC7-D65E-7861-8611-B06965687FC9}"/>
              </a:ext>
            </a:extLst>
          </p:cNvPr>
          <p:cNvSpPr txBox="1"/>
          <p:nvPr/>
        </p:nvSpPr>
        <p:spPr>
          <a:xfrm>
            <a:off x="5124943" y="1555964"/>
            <a:ext cx="1591869" cy="246221"/>
          </a:xfrm>
          <a:prstGeom prst="rect">
            <a:avLst/>
          </a:prstGeom>
          <a:noFill/>
        </p:spPr>
        <p:txBody>
          <a:bodyPr wrap="square" rtlCol="0">
            <a:spAutoFit/>
          </a:bodyPr>
          <a:lstStyle/>
          <a:p>
            <a:r>
              <a:rPr lang="en-US" sz="1000" dirty="0">
                <a:solidFill>
                  <a:schemeClr val="accent5">
                    <a:lumMod val="60000"/>
                    <a:lumOff val="40000"/>
                  </a:schemeClr>
                </a:solidFill>
              </a:rPr>
              <a:t>Toggle &gt; vs &lt; lockout level</a:t>
            </a:r>
          </a:p>
        </p:txBody>
      </p:sp>
      <p:sp>
        <p:nvSpPr>
          <p:cNvPr id="8" name="TextBox 7">
            <a:extLst>
              <a:ext uri="{FF2B5EF4-FFF2-40B4-BE49-F238E27FC236}">
                <a16:creationId xmlns:a16="http://schemas.microsoft.com/office/drawing/2014/main" id="{B08B950B-35A8-1AE2-0C2C-DACBB167589B}"/>
              </a:ext>
            </a:extLst>
          </p:cNvPr>
          <p:cNvSpPr txBox="1"/>
          <p:nvPr/>
        </p:nvSpPr>
        <p:spPr>
          <a:xfrm>
            <a:off x="3866114" y="1666110"/>
            <a:ext cx="1258829" cy="246221"/>
          </a:xfrm>
          <a:prstGeom prst="rect">
            <a:avLst/>
          </a:prstGeom>
          <a:noFill/>
        </p:spPr>
        <p:txBody>
          <a:bodyPr wrap="square" rtlCol="0">
            <a:spAutoFit/>
          </a:bodyPr>
          <a:lstStyle/>
          <a:p>
            <a:r>
              <a:rPr lang="en-US" sz="1000" dirty="0">
                <a:solidFill>
                  <a:schemeClr val="accent5">
                    <a:lumMod val="60000"/>
                    <a:lumOff val="40000"/>
                  </a:schemeClr>
                </a:solidFill>
              </a:rPr>
              <a:t>Locked vs released</a:t>
            </a:r>
          </a:p>
        </p:txBody>
      </p:sp>
      <p:sp>
        <p:nvSpPr>
          <p:cNvPr id="12" name="TextBox 11">
            <a:extLst>
              <a:ext uri="{FF2B5EF4-FFF2-40B4-BE49-F238E27FC236}">
                <a16:creationId xmlns:a16="http://schemas.microsoft.com/office/drawing/2014/main" id="{72D9A32D-2C6F-F504-272C-A9E0F5E489B7}"/>
              </a:ext>
            </a:extLst>
          </p:cNvPr>
          <p:cNvSpPr txBox="1"/>
          <p:nvPr/>
        </p:nvSpPr>
        <p:spPr>
          <a:xfrm>
            <a:off x="11736073" y="1343024"/>
            <a:ext cx="553998" cy="5179046"/>
          </a:xfrm>
          <a:prstGeom prst="rect">
            <a:avLst/>
          </a:prstGeom>
          <a:noFill/>
        </p:spPr>
        <p:txBody>
          <a:bodyPr vert="eaVert" wrap="none" rtlCol="0">
            <a:spAutoFit/>
          </a:bodyPr>
          <a:lstStyle/>
          <a:p>
            <a:r>
              <a:rPr lang="en-US" sz="1200" dirty="0">
                <a:solidFill>
                  <a:schemeClr val="accent5">
                    <a:lumMod val="60000"/>
                    <a:lumOff val="40000"/>
                  </a:schemeClr>
                </a:solidFill>
              </a:rPr>
              <a:t>When there are more results than fit on the screen,</a:t>
            </a:r>
          </a:p>
          <a:p>
            <a:r>
              <a:rPr lang="en-US" sz="1200" dirty="0">
                <a:solidFill>
                  <a:schemeClr val="accent5">
                    <a:lumMod val="60000"/>
                    <a:lumOff val="40000"/>
                  </a:schemeClr>
                </a:solidFill>
              </a:rPr>
              <a:t>use the outer one to navigate the page and the inner one to navigate the table</a:t>
            </a:r>
          </a:p>
        </p:txBody>
      </p:sp>
      <p:sp>
        <p:nvSpPr>
          <p:cNvPr id="5" name="TextBox 4">
            <a:extLst>
              <a:ext uri="{FF2B5EF4-FFF2-40B4-BE49-F238E27FC236}">
                <a16:creationId xmlns:a16="http://schemas.microsoft.com/office/drawing/2014/main" id="{A2D898AF-51DE-2DB6-B8CC-44027DA797CB}"/>
              </a:ext>
            </a:extLst>
          </p:cNvPr>
          <p:cNvSpPr txBox="1"/>
          <p:nvPr/>
        </p:nvSpPr>
        <p:spPr>
          <a:xfrm>
            <a:off x="9258835" y="896377"/>
            <a:ext cx="2308325" cy="246221"/>
          </a:xfrm>
          <a:prstGeom prst="rect">
            <a:avLst/>
          </a:prstGeom>
          <a:noFill/>
        </p:spPr>
        <p:txBody>
          <a:bodyPr wrap="square" rtlCol="0">
            <a:spAutoFit/>
          </a:bodyPr>
          <a:lstStyle/>
          <a:p>
            <a:r>
              <a:rPr lang="en-US" sz="1000" dirty="0">
                <a:solidFill>
                  <a:schemeClr val="accent5">
                    <a:lumMod val="60000"/>
                    <a:lumOff val="40000"/>
                  </a:schemeClr>
                </a:solidFill>
              </a:rPr>
              <a:t>Hide the filters to free up screen space</a:t>
            </a:r>
          </a:p>
        </p:txBody>
      </p:sp>
      <p:cxnSp>
        <p:nvCxnSpPr>
          <p:cNvPr id="9" name="Straight Arrow Connector 8">
            <a:extLst>
              <a:ext uri="{FF2B5EF4-FFF2-40B4-BE49-F238E27FC236}">
                <a16:creationId xmlns:a16="http://schemas.microsoft.com/office/drawing/2014/main" id="{D367C251-3F5D-01AE-FD8C-7F4913BAAD76}"/>
              </a:ext>
            </a:extLst>
          </p:cNvPr>
          <p:cNvCxnSpPr>
            <a:cxnSpLocks/>
            <a:stCxn id="5" idx="2"/>
          </p:cNvCxnSpPr>
          <p:nvPr/>
        </p:nvCxnSpPr>
        <p:spPr>
          <a:xfrm>
            <a:off x="10412998" y="1142598"/>
            <a:ext cx="610602" cy="24445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521648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4ADD1-DBFD-D4FC-AC04-0D5A4ACA042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7DFF277-3D7C-8B60-B6AC-9A6246A62CB6}"/>
              </a:ext>
            </a:extLst>
          </p:cNvPr>
          <p:cNvPicPr>
            <a:picLocks noChangeAspect="1"/>
          </p:cNvPicPr>
          <p:nvPr/>
        </p:nvPicPr>
        <p:blipFill>
          <a:blip r:embed="rId2"/>
          <a:stretch>
            <a:fillRect/>
          </a:stretch>
        </p:blipFill>
        <p:spPr>
          <a:xfrm>
            <a:off x="301657" y="932859"/>
            <a:ext cx="11585543" cy="5795807"/>
          </a:xfrm>
          <a:prstGeom prst="rect">
            <a:avLst/>
          </a:prstGeom>
        </p:spPr>
      </p:pic>
      <p:sp>
        <p:nvSpPr>
          <p:cNvPr id="2" name="Title 1">
            <a:extLst>
              <a:ext uri="{FF2B5EF4-FFF2-40B4-BE49-F238E27FC236}">
                <a16:creationId xmlns:a16="http://schemas.microsoft.com/office/drawing/2014/main" id="{1AD7534C-EF61-6C76-F758-B183185B4F6A}"/>
              </a:ext>
            </a:extLst>
          </p:cNvPr>
          <p:cNvSpPr>
            <a:spLocks noGrp="1"/>
          </p:cNvSpPr>
          <p:nvPr>
            <p:ph type="title"/>
          </p:nvPr>
        </p:nvSpPr>
        <p:spPr/>
        <p:txBody>
          <a:bodyPr>
            <a:normAutofit fontScale="90000"/>
          </a:bodyPr>
          <a:lstStyle/>
          <a:p>
            <a:r>
              <a:rPr lang="en-US" dirty="0"/>
              <a:t>Using the filters</a:t>
            </a:r>
          </a:p>
        </p:txBody>
      </p:sp>
      <p:sp>
        <p:nvSpPr>
          <p:cNvPr id="16" name="TextBox 15">
            <a:extLst>
              <a:ext uri="{FF2B5EF4-FFF2-40B4-BE49-F238E27FC236}">
                <a16:creationId xmlns:a16="http://schemas.microsoft.com/office/drawing/2014/main" id="{D4E31F97-DA69-4F63-B0F6-65187F0AC892}"/>
              </a:ext>
            </a:extLst>
          </p:cNvPr>
          <p:cNvSpPr txBox="1"/>
          <p:nvPr/>
        </p:nvSpPr>
        <p:spPr>
          <a:xfrm>
            <a:off x="5032528" y="2966192"/>
            <a:ext cx="4559341" cy="400110"/>
          </a:xfrm>
          <a:prstGeom prst="rect">
            <a:avLst/>
          </a:prstGeom>
          <a:noFill/>
        </p:spPr>
        <p:txBody>
          <a:bodyPr wrap="square" rtlCol="0">
            <a:spAutoFit/>
          </a:bodyPr>
          <a:lstStyle/>
          <a:p>
            <a:r>
              <a:rPr lang="en-US" sz="1000" dirty="0">
                <a:solidFill>
                  <a:schemeClr val="accent5">
                    <a:lumMod val="60000"/>
                    <a:lumOff val="40000"/>
                  </a:schemeClr>
                </a:solidFill>
              </a:rPr>
              <a:t>The table becomes faded if you haven’t pressed enter yet to remind you that it’s waiting for you to search. You can’t interact when it’s like this.</a:t>
            </a:r>
          </a:p>
        </p:txBody>
      </p:sp>
      <p:sp>
        <p:nvSpPr>
          <p:cNvPr id="7" name="TextBox 6">
            <a:extLst>
              <a:ext uri="{FF2B5EF4-FFF2-40B4-BE49-F238E27FC236}">
                <a16:creationId xmlns:a16="http://schemas.microsoft.com/office/drawing/2014/main" id="{4FE0F73B-BCFA-315A-606D-23B9B86B6DF1}"/>
              </a:ext>
            </a:extLst>
          </p:cNvPr>
          <p:cNvSpPr txBox="1"/>
          <p:nvPr/>
        </p:nvSpPr>
        <p:spPr>
          <a:xfrm>
            <a:off x="7594754" y="2426185"/>
            <a:ext cx="3187546" cy="400110"/>
          </a:xfrm>
          <a:prstGeom prst="rect">
            <a:avLst/>
          </a:prstGeom>
          <a:noFill/>
        </p:spPr>
        <p:txBody>
          <a:bodyPr wrap="square" rtlCol="0">
            <a:spAutoFit/>
          </a:bodyPr>
          <a:lstStyle/>
          <a:p>
            <a:r>
              <a:rPr lang="en-US" sz="1000" dirty="0">
                <a:solidFill>
                  <a:schemeClr val="accent5">
                    <a:lumMod val="60000"/>
                    <a:lumOff val="40000"/>
                  </a:schemeClr>
                </a:solidFill>
              </a:rPr>
              <a:t>Press clear to reset all filters and go back to the full table or execute to run a search with the current filters.</a:t>
            </a:r>
          </a:p>
        </p:txBody>
      </p:sp>
      <p:sp>
        <p:nvSpPr>
          <p:cNvPr id="9" name="TextBox 8">
            <a:extLst>
              <a:ext uri="{FF2B5EF4-FFF2-40B4-BE49-F238E27FC236}">
                <a16:creationId xmlns:a16="http://schemas.microsoft.com/office/drawing/2014/main" id="{5456004A-5A00-54D3-0375-6900F9C0CEC9}"/>
              </a:ext>
            </a:extLst>
          </p:cNvPr>
          <p:cNvSpPr txBox="1"/>
          <p:nvPr/>
        </p:nvSpPr>
        <p:spPr>
          <a:xfrm>
            <a:off x="1995135" y="2398582"/>
            <a:ext cx="2465740" cy="461665"/>
          </a:xfrm>
          <a:prstGeom prst="rect">
            <a:avLst/>
          </a:prstGeom>
          <a:noFill/>
        </p:spPr>
        <p:txBody>
          <a:bodyPr wrap="square" rtlCol="0">
            <a:spAutoFit/>
          </a:bodyPr>
          <a:lstStyle/>
          <a:p>
            <a:r>
              <a:rPr lang="en-US" sz="1200" dirty="0">
                <a:solidFill>
                  <a:schemeClr val="accent5">
                    <a:lumMod val="60000"/>
                    <a:lumOff val="40000"/>
                  </a:schemeClr>
                </a:solidFill>
              </a:rPr>
              <a:t>12 AM to include day, 11:59 PM to exclude (same as reset after)</a:t>
            </a:r>
          </a:p>
        </p:txBody>
      </p:sp>
      <p:sp>
        <p:nvSpPr>
          <p:cNvPr id="10" name="TextBox 9">
            <a:extLst>
              <a:ext uri="{FF2B5EF4-FFF2-40B4-BE49-F238E27FC236}">
                <a16:creationId xmlns:a16="http://schemas.microsoft.com/office/drawing/2014/main" id="{EE206883-0357-6580-7CB2-74C462B29923}"/>
              </a:ext>
            </a:extLst>
          </p:cNvPr>
          <p:cNvSpPr txBox="1"/>
          <p:nvPr/>
        </p:nvSpPr>
        <p:spPr>
          <a:xfrm>
            <a:off x="4516085" y="2398582"/>
            <a:ext cx="2465740" cy="461665"/>
          </a:xfrm>
          <a:prstGeom prst="rect">
            <a:avLst/>
          </a:prstGeom>
          <a:noFill/>
        </p:spPr>
        <p:txBody>
          <a:bodyPr wrap="square" rtlCol="0">
            <a:spAutoFit/>
          </a:bodyPr>
          <a:lstStyle/>
          <a:p>
            <a:r>
              <a:rPr lang="en-US" sz="1200" dirty="0">
                <a:solidFill>
                  <a:schemeClr val="accent5">
                    <a:lumMod val="60000"/>
                    <a:lumOff val="40000"/>
                  </a:schemeClr>
                </a:solidFill>
              </a:rPr>
              <a:t>11:59 PM to include day, 12 AM to exclude (same as reset before)</a:t>
            </a:r>
          </a:p>
        </p:txBody>
      </p:sp>
    </p:spTree>
    <p:extLst>
      <p:ext uri="{BB962C8B-B14F-4D97-AF65-F5344CB8AC3E}">
        <p14:creationId xmlns:p14="http://schemas.microsoft.com/office/powerpoint/2010/main" val="17032926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67857-5705-5233-8621-600012F829A6}"/>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43D24C7C-13B5-1A56-121B-9EDEDD100422}"/>
              </a:ext>
            </a:extLst>
          </p:cNvPr>
          <p:cNvPicPr>
            <a:picLocks noChangeAspect="1"/>
          </p:cNvPicPr>
          <p:nvPr/>
        </p:nvPicPr>
        <p:blipFill>
          <a:blip r:embed="rId2"/>
          <a:stretch>
            <a:fillRect/>
          </a:stretch>
        </p:blipFill>
        <p:spPr>
          <a:xfrm>
            <a:off x="278342" y="907749"/>
            <a:ext cx="11486310" cy="5725095"/>
          </a:xfrm>
          <a:prstGeom prst="rect">
            <a:avLst/>
          </a:prstGeom>
        </p:spPr>
      </p:pic>
      <p:sp>
        <p:nvSpPr>
          <p:cNvPr id="2" name="Title 1">
            <a:extLst>
              <a:ext uri="{FF2B5EF4-FFF2-40B4-BE49-F238E27FC236}">
                <a16:creationId xmlns:a16="http://schemas.microsoft.com/office/drawing/2014/main" id="{83CAF45F-3A8D-00CD-7E8B-3230BFA26EDA}"/>
              </a:ext>
            </a:extLst>
          </p:cNvPr>
          <p:cNvSpPr>
            <a:spLocks noGrp="1"/>
          </p:cNvSpPr>
          <p:nvPr>
            <p:ph type="title"/>
          </p:nvPr>
        </p:nvSpPr>
        <p:spPr/>
        <p:txBody>
          <a:bodyPr>
            <a:normAutofit fontScale="90000"/>
          </a:bodyPr>
          <a:lstStyle/>
          <a:p>
            <a:r>
              <a:rPr lang="en-US" dirty="0"/>
              <a:t>Using the table</a:t>
            </a:r>
          </a:p>
        </p:txBody>
      </p:sp>
      <p:sp>
        <p:nvSpPr>
          <p:cNvPr id="10" name="TextBox 9">
            <a:extLst>
              <a:ext uri="{FF2B5EF4-FFF2-40B4-BE49-F238E27FC236}">
                <a16:creationId xmlns:a16="http://schemas.microsoft.com/office/drawing/2014/main" id="{A1538370-39D1-6D79-381E-31E581284C33}"/>
              </a:ext>
            </a:extLst>
          </p:cNvPr>
          <p:cNvSpPr txBox="1"/>
          <p:nvPr/>
        </p:nvSpPr>
        <p:spPr>
          <a:xfrm>
            <a:off x="1729361" y="2845355"/>
            <a:ext cx="1904682" cy="246221"/>
          </a:xfrm>
          <a:prstGeom prst="rect">
            <a:avLst/>
          </a:prstGeom>
          <a:noFill/>
        </p:spPr>
        <p:txBody>
          <a:bodyPr wrap="square" rtlCol="0">
            <a:spAutoFit/>
          </a:bodyPr>
          <a:lstStyle/>
          <a:p>
            <a:r>
              <a:rPr lang="en-US" sz="1000" dirty="0">
                <a:solidFill>
                  <a:schemeClr val="accent5">
                    <a:lumMod val="60000"/>
                    <a:lumOff val="40000"/>
                  </a:schemeClr>
                </a:solidFill>
              </a:rPr>
              <a:t>The results you’re seeing now</a:t>
            </a:r>
          </a:p>
        </p:txBody>
      </p:sp>
      <p:sp>
        <p:nvSpPr>
          <p:cNvPr id="12" name="TextBox 11">
            <a:extLst>
              <a:ext uri="{FF2B5EF4-FFF2-40B4-BE49-F238E27FC236}">
                <a16:creationId xmlns:a16="http://schemas.microsoft.com/office/drawing/2014/main" id="{A82EE8DE-09C4-18FA-EF73-579B5935A4D6}"/>
              </a:ext>
            </a:extLst>
          </p:cNvPr>
          <p:cNvSpPr txBox="1"/>
          <p:nvPr/>
        </p:nvSpPr>
        <p:spPr>
          <a:xfrm>
            <a:off x="3634043" y="2968465"/>
            <a:ext cx="762442" cy="400110"/>
          </a:xfrm>
          <a:prstGeom prst="rect">
            <a:avLst/>
          </a:prstGeom>
          <a:noFill/>
        </p:spPr>
        <p:txBody>
          <a:bodyPr wrap="square" rtlCol="0">
            <a:spAutoFit/>
          </a:bodyPr>
          <a:lstStyle/>
          <a:p>
            <a:r>
              <a:rPr lang="en-US" sz="1000" dirty="0">
                <a:solidFill>
                  <a:schemeClr val="accent5">
                    <a:lumMod val="60000"/>
                    <a:lumOff val="40000"/>
                  </a:schemeClr>
                </a:solidFill>
              </a:rPr>
              <a:t>Results per page</a:t>
            </a:r>
          </a:p>
        </p:txBody>
      </p:sp>
      <p:sp>
        <p:nvSpPr>
          <p:cNvPr id="14" name="TextBox 13">
            <a:extLst>
              <a:ext uri="{FF2B5EF4-FFF2-40B4-BE49-F238E27FC236}">
                <a16:creationId xmlns:a16="http://schemas.microsoft.com/office/drawing/2014/main" id="{9969AFC8-B683-D7F5-6B60-50E3D3FED37A}"/>
              </a:ext>
            </a:extLst>
          </p:cNvPr>
          <p:cNvSpPr txBox="1"/>
          <p:nvPr/>
        </p:nvSpPr>
        <p:spPr>
          <a:xfrm>
            <a:off x="9452168" y="2845354"/>
            <a:ext cx="1470274" cy="246221"/>
          </a:xfrm>
          <a:prstGeom prst="rect">
            <a:avLst/>
          </a:prstGeom>
          <a:noFill/>
        </p:spPr>
        <p:txBody>
          <a:bodyPr wrap="none" rtlCol="0">
            <a:spAutoFit/>
          </a:bodyPr>
          <a:lstStyle/>
          <a:p>
            <a:r>
              <a:rPr lang="en-US" sz="1000" dirty="0">
                <a:solidFill>
                  <a:schemeClr val="accent5">
                    <a:lumMod val="60000"/>
                    <a:lumOff val="40000"/>
                  </a:schemeClr>
                </a:solidFill>
              </a:rPr>
              <a:t>Jump to a specific page</a:t>
            </a:r>
          </a:p>
        </p:txBody>
      </p:sp>
      <p:sp>
        <p:nvSpPr>
          <p:cNvPr id="3" name="TextBox 2">
            <a:extLst>
              <a:ext uri="{FF2B5EF4-FFF2-40B4-BE49-F238E27FC236}">
                <a16:creationId xmlns:a16="http://schemas.microsoft.com/office/drawing/2014/main" id="{9B3E4AE1-B797-5E42-B959-804F7D2205F5}"/>
              </a:ext>
            </a:extLst>
          </p:cNvPr>
          <p:cNvSpPr txBox="1"/>
          <p:nvPr/>
        </p:nvSpPr>
        <p:spPr>
          <a:xfrm>
            <a:off x="4516406" y="2968466"/>
            <a:ext cx="4815841" cy="400110"/>
          </a:xfrm>
          <a:prstGeom prst="rect">
            <a:avLst/>
          </a:prstGeom>
          <a:noFill/>
        </p:spPr>
        <p:txBody>
          <a:bodyPr wrap="square" rtlCol="0">
            <a:spAutoFit/>
          </a:bodyPr>
          <a:lstStyle/>
          <a:p>
            <a:r>
              <a:rPr lang="en-US" sz="1000" dirty="0">
                <a:solidFill>
                  <a:schemeClr val="accent5">
                    <a:lumMod val="60000"/>
                    <a:lumOff val="40000"/>
                  </a:schemeClr>
                </a:solidFill>
              </a:rPr>
              <a:t>Click any column header to cycle through sort directions for that attribute. You can only sort by one column at once, and the default sort is by most recent lockout time.</a:t>
            </a:r>
          </a:p>
        </p:txBody>
      </p:sp>
      <p:sp>
        <p:nvSpPr>
          <p:cNvPr id="4" name="TextBox 3">
            <a:extLst>
              <a:ext uri="{FF2B5EF4-FFF2-40B4-BE49-F238E27FC236}">
                <a16:creationId xmlns:a16="http://schemas.microsoft.com/office/drawing/2014/main" id="{F33FD550-8542-DEDD-FCED-49A50F2F22E6}"/>
              </a:ext>
            </a:extLst>
          </p:cNvPr>
          <p:cNvSpPr txBox="1"/>
          <p:nvPr/>
        </p:nvSpPr>
        <p:spPr>
          <a:xfrm>
            <a:off x="4015264" y="905060"/>
            <a:ext cx="5316983" cy="400110"/>
          </a:xfrm>
          <a:prstGeom prst="rect">
            <a:avLst/>
          </a:prstGeom>
          <a:noFill/>
        </p:spPr>
        <p:txBody>
          <a:bodyPr wrap="square" rtlCol="0">
            <a:spAutoFit/>
          </a:bodyPr>
          <a:lstStyle/>
          <a:p>
            <a:r>
              <a:rPr lang="en-US" sz="1000" dirty="0">
                <a:solidFill>
                  <a:schemeClr val="accent5">
                    <a:lumMod val="60000"/>
                    <a:lumOff val="40000"/>
                  </a:schemeClr>
                </a:solidFill>
              </a:rPr>
              <a:t>Sorting assumes you only want to see entries where that value exists. For example, sorting by reset time here would hide all entries except the ones reset by ‘b’ and ‘eh’, then apply the sort</a:t>
            </a:r>
          </a:p>
        </p:txBody>
      </p:sp>
    </p:spTree>
    <p:extLst>
      <p:ext uri="{BB962C8B-B14F-4D97-AF65-F5344CB8AC3E}">
        <p14:creationId xmlns:p14="http://schemas.microsoft.com/office/powerpoint/2010/main" val="12465708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C5437-B032-46BE-8C6E-92FB7ED12D30}"/>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C462799C-5083-1D2B-1656-A30074633406}"/>
              </a:ext>
            </a:extLst>
          </p:cNvPr>
          <p:cNvPicPr>
            <a:picLocks noChangeAspect="1"/>
          </p:cNvPicPr>
          <p:nvPr/>
        </p:nvPicPr>
        <p:blipFill>
          <a:blip r:embed="rId3"/>
          <a:stretch>
            <a:fillRect/>
          </a:stretch>
        </p:blipFill>
        <p:spPr>
          <a:xfrm>
            <a:off x="295274" y="902009"/>
            <a:ext cx="11591925" cy="5777718"/>
          </a:xfrm>
          <a:prstGeom prst="rect">
            <a:avLst/>
          </a:prstGeom>
        </p:spPr>
      </p:pic>
      <p:sp>
        <p:nvSpPr>
          <p:cNvPr id="2" name="Title 1">
            <a:extLst>
              <a:ext uri="{FF2B5EF4-FFF2-40B4-BE49-F238E27FC236}">
                <a16:creationId xmlns:a16="http://schemas.microsoft.com/office/drawing/2014/main" id="{15448448-01BA-59FB-D8F3-BAA926C195D1}"/>
              </a:ext>
            </a:extLst>
          </p:cNvPr>
          <p:cNvSpPr>
            <a:spLocks noGrp="1"/>
          </p:cNvSpPr>
          <p:nvPr>
            <p:ph type="title"/>
          </p:nvPr>
        </p:nvSpPr>
        <p:spPr/>
        <p:txBody>
          <a:bodyPr>
            <a:normAutofit fontScale="90000"/>
          </a:bodyPr>
          <a:lstStyle/>
          <a:p>
            <a:r>
              <a:rPr lang="en-US" dirty="0"/>
              <a:t>Historical: the ‘expand’ button</a:t>
            </a:r>
          </a:p>
        </p:txBody>
      </p:sp>
      <p:sp>
        <p:nvSpPr>
          <p:cNvPr id="5" name="TextBox 4">
            <a:extLst>
              <a:ext uri="{FF2B5EF4-FFF2-40B4-BE49-F238E27FC236}">
                <a16:creationId xmlns:a16="http://schemas.microsoft.com/office/drawing/2014/main" id="{4A281846-F328-178E-9A2C-71311D73239A}"/>
              </a:ext>
            </a:extLst>
          </p:cNvPr>
          <p:cNvSpPr txBox="1"/>
          <p:nvPr/>
        </p:nvSpPr>
        <p:spPr>
          <a:xfrm>
            <a:off x="4152900" y="905060"/>
            <a:ext cx="3886200" cy="400110"/>
          </a:xfrm>
          <a:prstGeom prst="rect">
            <a:avLst/>
          </a:prstGeom>
          <a:noFill/>
        </p:spPr>
        <p:txBody>
          <a:bodyPr wrap="square" rtlCol="0">
            <a:spAutoFit/>
          </a:bodyPr>
          <a:lstStyle/>
          <a:p>
            <a:r>
              <a:rPr lang="en-US" sz="1000" dirty="0">
                <a:solidFill>
                  <a:schemeClr val="accent5">
                    <a:lumMod val="60000"/>
                    <a:lumOff val="40000"/>
                  </a:schemeClr>
                </a:solidFill>
              </a:rPr>
              <a:t>Clicking the three lines next to an entry will highlight the row in blue and open a split screen of all attempted resets for that lockout.</a:t>
            </a:r>
          </a:p>
        </p:txBody>
      </p:sp>
      <p:sp>
        <p:nvSpPr>
          <p:cNvPr id="6" name="TextBox 5">
            <a:extLst>
              <a:ext uri="{FF2B5EF4-FFF2-40B4-BE49-F238E27FC236}">
                <a16:creationId xmlns:a16="http://schemas.microsoft.com/office/drawing/2014/main" id="{E1D613EC-5703-4E8E-A21C-ADCC9671805D}"/>
              </a:ext>
            </a:extLst>
          </p:cNvPr>
          <p:cNvSpPr txBox="1"/>
          <p:nvPr/>
        </p:nvSpPr>
        <p:spPr>
          <a:xfrm>
            <a:off x="8150368" y="3028890"/>
            <a:ext cx="3659854" cy="400110"/>
          </a:xfrm>
          <a:prstGeom prst="rect">
            <a:avLst/>
          </a:prstGeom>
          <a:noFill/>
        </p:spPr>
        <p:txBody>
          <a:bodyPr wrap="square" rtlCol="0">
            <a:spAutoFit/>
          </a:bodyPr>
          <a:lstStyle/>
          <a:p>
            <a:r>
              <a:rPr lang="en-US" sz="1000" dirty="0">
                <a:solidFill>
                  <a:schemeClr val="accent5">
                    <a:lumMod val="60000"/>
                    <a:lumOff val="40000"/>
                  </a:schemeClr>
                </a:solidFill>
              </a:rPr>
              <a:t>If the lockout has a paired reset, it’s highlighted in green and at the top (default sort is by auth state)</a:t>
            </a:r>
          </a:p>
        </p:txBody>
      </p:sp>
      <p:sp>
        <p:nvSpPr>
          <p:cNvPr id="11" name="TextBox 10">
            <a:extLst>
              <a:ext uri="{FF2B5EF4-FFF2-40B4-BE49-F238E27FC236}">
                <a16:creationId xmlns:a16="http://schemas.microsoft.com/office/drawing/2014/main" id="{88518FBE-206F-5E50-C6FF-0E23CCC9773E}"/>
              </a:ext>
            </a:extLst>
          </p:cNvPr>
          <p:cNvSpPr txBox="1"/>
          <p:nvPr/>
        </p:nvSpPr>
        <p:spPr>
          <a:xfrm>
            <a:off x="9248140" y="3429000"/>
            <a:ext cx="2562082" cy="400110"/>
          </a:xfrm>
          <a:prstGeom prst="rect">
            <a:avLst/>
          </a:prstGeom>
          <a:noFill/>
        </p:spPr>
        <p:txBody>
          <a:bodyPr wrap="square" rtlCol="0">
            <a:spAutoFit/>
          </a:bodyPr>
          <a:lstStyle/>
          <a:p>
            <a:r>
              <a:rPr lang="en-US" sz="1000" dirty="0">
                <a:solidFill>
                  <a:schemeClr val="accent5">
                    <a:lumMod val="60000"/>
                    <a:lumOff val="40000"/>
                  </a:schemeClr>
                </a:solidFill>
              </a:rPr>
              <a:t>Can filter denied requests by insufficient auth level or no privileges on target line</a:t>
            </a:r>
          </a:p>
        </p:txBody>
      </p:sp>
    </p:spTree>
    <p:extLst>
      <p:ext uri="{BB962C8B-B14F-4D97-AF65-F5344CB8AC3E}">
        <p14:creationId xmlns:p14="http://schemas.microsoft.com/office/powerpoint/2010/main" val="13312157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B7B5B-ED35-205A-CA2F-B72AA425EEC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6EB9BAC-B30D-BF7B-9220-CC72F601E613}"/>
              </a:ext>
            </a:extLst>
          </p:cNvPr>
          <p:cNvPicPr>
            <a:picLocks noChangeAspect="1"/>
          </p:cNvPicPr>
          <p:nvPr/>
        </p:nvPicPr>
        <p:blipFill>
          <a:blip r:embed="rId2"/>
          <a:stretch>
            <a:fillRect/>
          </a:stretch>
        </p:blipFill>
        <p:spPr>
          <a:xfrm>
            <a:off x="301658" y="905061"/>
            <a:ext cx="11640690" cy="5774612"/>
          </a:xfrm>
          <a:prstGeom prst="rect">
            <a:avLst/>
          </a:prstGeom>
        </p:spPr>
      </p:pic>
      <p:sp>
        <p:nvSpPr>
          <p:cNvPr id="2" name="Title 1">
            <a:extLst>
              <a:ext uri="{FF2B5EF4-FFF2-40B4-BE49-F238E27FC236}">
                <a16:creationId xmlns:a16="http://schemas.microsoft.com/office/drawing/2014/main" id="{F6ADF4E2-82E1-891C-B98B-A8588815B969}"/>
              </a:ext>
            </a:extLst>
          </p:cNvPr>
          <p:cNvSpPr>
            <a:spLocks noGrp="1"/>
          </p:cNvSpPr>
          <p:nvPr>
            <p:ph type="title"/>
          </p:nvPr>
        </p:nvSpPr>
        <p:spPr/>
        <p:txBody>
          <a:bodyPr>
            <a:normAutofit fontScale="90000"/>
          </a:bodyPr>
          <a:lstStyle/>
          <a:p>
            <a:r>
              <a:rPr lang="en-US" dirty="0"/>
              <a:t>Line Status page</a:t>
            </a:r>
          </a:p>
        </p:txBody>
      </p:sp>
      <p:sp>
        <p:nvSpPr>
          <p:cNvPr id="10" name="TextBox 9">
            <a:extLst>
              <a:ext uri="{FF2B5EF4-FFF2-40B4-BE49-F238E27FC236}">
                <a16:creationId xmlns:a16="http://schemas.microsoft.com/office/drawing/2014/main" id="{E8CDE3DF-F0EF-2C72-E316-48ADB6202F60}"/>
              </a:ext>
            </a:extLst>
          </p:cNvPr>
          <p:cNvSpPr txBox="1"/>
          <p:nvPr/>
        </p:nvSpPr>
        <p:spPr>
          <a:xfrm>
            <a:off x="4438650" y="2406650"/>
            <a:ext cx="4495654" cy="276999"/>
          </a:xfrm>
          <a:prstGeom prst="rect">
            <a:avLst/>
          </a:prstGeom>
          <a:noFill/>
        </p:spPr>
        <p:txBody>
          <a:bodyPr wrap="none" rtlCol="0">
            <a:spAutoFit/>
          </a:bodyPr>
          <a:lstStyle/>
          <a:p>
            <a:r>
              <a:rPr lang="en-US" sz="1200" dirty="0">
                <a:solidFill>
                  <a:schemeClr val="accent5">
                    <a:lumMod val="60000"/>
                    <a:lumOff val="40000"/>
                  </a:schemeClr>
                </a:solidFill>
              </a:rPr>
              <a:t>Table and filters are functionally equivalent to the historical table </a:t>
            </a:r>
          </a:p>
        </p:txBody>
      </p:sp>
      <p:sp>
        <p:nvSpPr>
          <p:cNvPr id="14" name="TextBox 13">
            <a:extLst>
              <a:ext uri="{FF2B5EF4-FFF2-40B4-BE49-F238E27FC236}">
                <a16:creationId xmlns:a16="http://schemas.microsoft.com/office/drawing/2014/main" id="{123C6E55-5D31-4BA6-C183-56B79A5CC270}"/>
              </a:ext>
            </a:extLst>
          </p:cNvPr>
          <p:cNvSpPr txBox="1"/>
          <p:nvPr/>
        </p:nvSpPr>
        <p:spPr>
          <a:xfrm>
            <a:off x="2584580" y="1835150"/>
            <a:ext cx="1911421" cy="276999"/>
          </a:xfrm>
          <a:prstGeom prst="rect">
            <a:avLst/>
          </a:prstGeom>
          <a:noFill/>
        </p:spPr>
        <p:txBody>
          <a:bodyPr wrap="none" rtlCol="0">
            <a:spAutoFit/>
          </a:bodyPr>
          <a:lstStyle/>
          <a:p>
            <a:r>
              <a:rPr lang="en-US" sz="1200" dirty="0">
                <a:solidFill>
                  <a:schemeClr val="accent5">
                    <a:lumMod val="60000"/>
                    <a:lumOff val="40000"/>
                  </a:schemeClr>
                </a:solidFill>
              </a:rPr>
              <a:t>Requires complete CMMS</a:t>
            </a:r>
          </a:p>
        </p:txBody>
      </p:sp>
      <p:sp>
        <p:nvSpPr>
          <p:cNvPr id="15" name="TextBox 14">
            <a:extLst>
              <a:ext uri="{FF2B5EF4-FFF2-40B4-BE49-F238E27FC236}">
                <a16:creationId xmlns:a16="http://schemas.microsoft.com/office/drawing/2014/main" id="{A9BD5AC6-B04C-9301-218E-C7B63270D604}"/>
              </a:ext>
            </a:extLst>
          </p:cNvPr>
          <p:cNvSpPr txBox="1"/>
          <p:nvPr/>
        </p:nvSpPr>
        <p:spPr>
          <a:xfrm>
            <a:off x="5320607" y="1835149"/>
            <a:ext cx="2736134" cy="276999"/>
          </a:xfrm>
          <a:prstGeom prst="rect">
            <a:avLst/>
          </a:prstGeom>
          <a:noFill/>
        </p:spPr>
        <p:txBody>
          <a:bodyPr wrap="none" rtlCol="0">
            <a:spAutoFit/>
          </a:bodyPr>
          <a:lstStyle/>
          <a:p>
            <a:r>
              <a:rPr lang="en-US" sz="1200" dirty="0">
                <a:solidFill>
                  <a:schemeClr val="accent5">
                    <a:lumMod val="60000"/>
                    <a:lumOff val="40000"/>
                  </a:schemeClr>
                </a:solidFill>
              </a:rPr>
              <a:t>Select locked vs active from dropdown</a:t>
            </a:r>
          </a:p>
        </p:txBody>
      </p:sp>
      <p:sp>
        <p:nvSpPr>
          <p:cNvPr id="16" name="TextBox 15">
            <a:extLst>
              <a:ext uri="{FF2B5EF4-FFF2-40B4-BE49-F238E27FC236}">
                <a16:creationId xmlns:a16="http://schemas.microsoft.com/office/drawing/2014/main" id="{B743F743-8FBF-7A03-9170-95BD8F36AB42}"/>
              </a:ext>
            </a:extLst>
          </p:cNvPr>
          <p:cNvSpPr txBox="1"/>
          <p:nvPr/>
        </p:nvSpPr>
        <p:spPr>
          <a:xfrm>
            <a:off x="8502089" y="1835148"/>
            <a:ext cx="1921295" cy="276999"/>
          </a:xfrm>
          <a:prstGeom prst="rect">
            <a:avLst/>
          </a:prstGeom>
          <a:noFill/>
        </p:spPr>
        <p:txBody>
          <a:bodyPr wrap="none" rtlCol="0">
            <a:spAutoFit/>
          </a:bodyPr>
          <a:lstStyle/>
          <a:p>
            <a:r>
              <a:rPr lang="en-US" sz="1200" dirty="0">
                <a:solidFill>
                  <a:schemeClr val="accent5">
                    <a:lumMod val="60000"/>
                    <a:lumOff val="40000"/>
                  </a:schemeClr>
                </a:solidFill>
              </a:rPr>
              <a:t>Can take partial line name</a:t>
            </a:r>
          </a:p>
        </p:txBody>
      </p:sp>
      <p:sp>
        <p:nvSpPr>
          <p:cNvPr id="5" name="TextBox 4">
            <a:extLst>
              <a:ext uri="{FF2B5EF4-FFF2-40B4-BE49-F238E27FC236}">
                <a16:creationId xmlns:a16="http://schemas.microsoft.com/office/drawing/2014/main" id="{E82C2DB5-44E6-1177-B693-792AD893CB62}"/>
              </a:ext>
            </a:extLst>
          </p:cNvPr>
          <p:cNvSpPr txBox="1"/>
          <p:nvPr/>
        </p:nvSpPr>
        <p:spPr>
          <a:xfrm>
            <a:off x="7432643" y="3050323"/>
            <a:ext cx="2665281" cy="276999"/>
          </a:xfrm>
          <a:prstGeom prst="rect">
            <a:avLst/>
          </a:prstGeom>
          <a:noFill/>
        </p:spPr>
        <p:txBody>
          <a:bodyPr wrap="none" rtlCol="0">
            <a:spAutoFit/>
          </a:bodyPr>
          <a:lstStyle/>
          <a:p>
            <a:r>
              <a:rPr lang="en-US" sz="1200" dirty="0">
                <a:solidFill>
                  <a:schemeClr val="accent5">
                    <a:lumMod val="60000"/>
                    <a:lumOff val="40000"/>
                  </a:schemeClr>
                </a:solidFill>
              </a:rPr>
              <a:t>Default sort is by locked out vs active </a:t>
            </a:r>
          </a:p>
        </p:txBody>
      </p:sp>
    </p:spTree>
    <p:extLst>
      <p:ext uri="{BB962C8B-B14F-4D97-AF65-F5344CB8AC3E}">
        <p14:creationId xmlns:p14="http://schemas.microsoft.com/office/powerpoint/2010/main" val="35051366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B73AD-B8EA-D737-3E9F-D93B02C78AB9}"/>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AB61B813-86B6-4540-AAAF-727327F47FE4}"/>
              </a:ext>
            </a:extLst>
          </p:cNvPr>
          <p:cNvPicPr>
            <a:picLocks noChangeAspect="1"/>
          </p:cNvPicPr>
          <p:nvPr/>
        </p:nvPicPr>
        <p:blipFill>
          <a:blip r:embed="rId2"/>
          <a:stretch>
            <a:fillRect/>
          </a:stretch>
        </p:blipFill>
        <p:spPr>
          <a:xfrm>
            <a:off x="320704" y="921893"/>
            <a:ext cx="11550592" cy="5721040"/>
          </a:xfrm>
          <a:prstGeom prst="rect">
            <a:avLst/>
          </a:prstGeom>
        </p:spPr>
      </p:pic>
      <p:sp>
        <p:nvSpPr>
          <p:cNvPr id="2" name="Title 1">
            <a:extLst>
              <a:ext uri="{FF2B5EF4-FFF2-40B4-BE49-F238E27FC236}">
                <a16:creationId xmlns:a16="http://schemas.microsoft.com/office/drawing/2014/main" id="{6390E3F7-5CF7-0641-C92A-780A10592985}"/>
              </a:ext>
            </a:extLst>
          </p:cNvPr>
          <p:cNvSpPr>
            <a:spLocks noGrp="1"/>
          </p:cNvSpPr>
          <p:nvPr>
            <p:ph type="title"/>
          </p:nvPr>
        </p:nvSpPr>
        <p:spPr>
          <a:xfrm>
            <a:off x="2438474" y="225279"/>
            <a:ext cx="7351272" cy="679904"/>
          </a:xfrm>
        </p:spPr>
        <p:txBody>
          <a:bodyPr>
            <a:normAutofit fontScale="90000"/>
          </a:bodyPr>
          <a:lstStyle/>
          <a:p>
            <a:r>
              <a:rPr lang="en-US" dirty="0"/>
              <a:t>Associate/line management page</a:t>
            </a:r>
          </a:p>
        </p:txBody>
      </p:sp>
      <p:sp>
        <p:nvSpPr>
          <p:cNvPr id="11" name="TextBox 10">
            <a:extLst>
              <a:ext uri="{FF2B5EF4-FFF2-40B4-BE49-F238E27FC236}">
                <a16:creationId xmlns:a16="http://schemas.microsoft.com/office/drawing/2014/main" id="{FF7A9728-3103-237E-0EC1-A6518507D228}"/>
              </a:ext>
            </a:extLst>
          </p:cNvPr>
          <p:cNvSpPr txBox="1"/>
          <p:nvPr/>
        </p:nvSpPr>
        <p:spPr>
          <a:xfrm>
            <a:off x="11835237" y="1084083"/>
            <a:ext cx="369332" cy="5007525"/>
          </a:xfrm>
          <a:prstGeom prst="rect">
            <a:avLst/>
          </a:prstGeom>
          <a:noFill/>
        </p:spPr>
        <p:txBody>
          <a:bodyPr vert="eaVert" wrap="none" rtlCol="0">
            <a:spAutoFit/>
          </a:bodyPr>
          <a:lstStyle/>
          <a:p>
            <a:r>
              <a:rPr lang="en-US" sz="1200" dirty="0">
                <a:solidFill>
                  <a:schemeClr val="accent5">
                    <a:lumMod val="60000"/>
                    <a:lumOff val="40000"/>
                  </a:schemeClr>
                </a:solidFill>
              </a:rPr>
              <a:t>The outer scrollbar controls the page, the inner scrollbar controls the table</a:t>
            </a:r>
          </a:p>
        </p:txBody>
      </p:sp>
      <p:sp>
        <p:nvSpPr>
          <p:cNvPr id="12" name="TextBox 11">
            <a:extLst>
              <a:ext uri="{FF2B5EF4-FFF2-40B4-BE49-F238E27FC236}">
                <a16:creationId xmlns:a16="http://schemas.microsoft.com/office/drawing/2014/main" id="{1B8ADE77-ECD6-65CD-3324-7F1F2E56A187}"/>
              </a:ext>
            </a:extLst>
          </p:cNvPr>
          <p:cNvSpPr txBox="1"/>
          <p:nvPr/>
        </p:nvSpPr>
        <p:spPr>
          <a:xfrm>
            <a:off x="7405227" y="1389432"/>
            <a:ext cx="2112154" cy="461665"/>
          </a:xfrm>
          <a:prstGeom prst="rect">
            <a:avLst/>
          </a:prstGeom>
          <a:noFill/>
        </p:spPr>
        <p:txBody>
          <a:bodyPr wrap="square" rtlCol="0">
            <a:spAutoFit/>
          </a:bodyPr>
          <a:lstStyle/>
          <a:p>
            <a:r>
              <a:rPr lang="en-US" sz="1200" dirty="0">
                <a:solidFill>
                  <a:schemeClr val="accent5">
                    <a:lumMod val="60000"/>
                    <a:lumOff val="40000"/>
                  </a:schemeClr>
                </a:solidFill>
              </a:rPr>
              <a:t>Opens a form to add a new associate to the database</a:t>
            </a:r>
          </a:p>
        </p:txBody>
      </p:sp>
      <p:cxnSp>
        <p:nvCxnSpPr>
          <p:cNvPr id="16" name="Connector: Elbow 15">
            <a:extLst>
              <a:ext uri="{FF2B5EF4-FFF2-40B4-BE49-F238E27FC236}">
                <a16:creationId xmlns:a16="http://schemas.microsoft.com/office/drawing/2014/main" id="{4F7C1CF2-6E7C-2A7B-90E5-19D9D2028133}"/>
              </a:ext>
            </a:extLst>
          </p:cNvPr>
          <p:cNvCxnSpPr>
            <a:stCxn id="12" idx="1"/>
          </p:cNvCxnSpPr>
          <p:nvPr/>
        </p:nvCxnSpPr>
        <p:spPr>
          <a:xfrm rot="10800000" flipV="1">
            <a:off x="6888481" y="1620264"/>
            <a:ext cx="516747" cy="193295"/>
          </a:xfrm>
          <a:prstGeom prst="bentConnector3">
            <a:avLst>
              <a:gd name="adj1" fmla="val 99860"/>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83DB18DC-B1FA-8B04-740C-697C2C5701C5}"/>
              </a:ext>
            </a:extLst>
          </p:cNvPr>
          <p:cNvSpPr txBox="1"/>
          <p:nvPr/>
        </p:nvSpPr>
        <p:spPr>
          <a:xfrm>
            <a:off x="4402946" y="2272469"/>
            <a:ext cx="3567573" cy="276999"/>
          </a:xfrm>
          <a:prstGeom prst="rect">
            <a:avLst/>
          </a:prstGeom>
          <a:noFill/>
        </p:spPr>
        <p:txBody>
          <a:bodyPr wrap="square" rtlCol="0">
            <a:spAutoFit/>
          </a:bodyPr>
          <a:lstStyle/>
          <a:p>
            <a:r>
              <a:rPr lang="en-US" sz="1200" dirty="0">
                <a:solidFill>
                  <a:schemeClr val="accent5">
                    <a:lumMod val="60000"/>
                    <a:lumOff val="40000"/>
                  </a:schemeClr>
                </a:solidFill>
              </a:rPr>
              <a:t>Column headers can still be clicked to toggle sorts</a:t>
            </a:r>
          </a:p>
        </p:txBody>
      </p:sp>
      <p:sp>
        <p:nvSpPr>
          <p:cNvPr id="20" name="TextBox 19">
            <a:extLst>
              <a:ext uri="{FF2B5EF4-FFF2-40B4-BE49-F238E27FC236}">
                <a16:creationId xmlns:a16="http://schemas.microsoft.com/office/drawing/2014/main" id="{3C72975A-6542-D518-3842-185B9C0DD359}"/>
              </a:ext>
            </a:extLst>
          </p:cNvPr>
          <p:cNvSpPr txBox="1"/>
          <p:nvPr/>
        </p:nvSpPr>
        <p:spPr>
          <a:xfrm>
            <a:off x="8771485" y="2885602"/>
            <a:ext cx="1642822" cy="276999"/>
          </a:xfrm>
          <a:prstGeom prst="rect">
            <a:avLst/>
          </a:prstGeom>
          <a:noFill/>
        </p:spPr>
        <p:txBody>
          <a:bodyPr wrap="none" rtlCol="0">
            <a:spAutoFit/>
          </a:bodyPr>
          <a:lstStyle/>
          <a:p>
            <a:r>
              <a:rPr lang="en-US" sz="1200" dirty="0">
                <a:solidFill>
                  <a:schemeClr val="accent5">
                    <a:lumMod val="60000"/>
                    <a:lumOff val="40000"/>
                  </a:schemeClr>
                </a:solidFill>
              </a:rPr>
              <a:t>Show authorized lines</a:t>
            </a:r>
          </a:p>
        </p:txBody>
      </p:sp>
      <p:cxnSp>
        <p:nvCxnSpPr>
          <p:cNvPr id="22" name="Straight Arrow Connector 21">
            <a:extLst>
              <a:ext uri="{FF2B5EF4-FFF2-40B4-BE49-F238E27FC236}">
                <a16:creationId xmlns:a16="http://schemas.microsoft.com/office/drawing/2014/main" id="{3BD0BC8D-DB71-815D-5289-455C1BEECE2E}"/>
              </a:ext>
            </a:extLst>
          </p:cNvPr>
          <p:cNvCxnSpPr>
            <a:stCxn id="20" idx="3"/>
          </p:cNvCxnSpPr>
          <p:nvPr/>
        </p:nvCxnSpPr>
        <p:spPr>
          <a:xfrm flipV="1">
            <a:off x="10414307" y="3022600"/>
            <a:ext cx="139393" cy="15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4B718289-575D-5AB9-637C-843162FB7DB0}"/>
              </a:ext>
            </a:extLst>
          </p:cNvPr>
          <p:cNvSpPr txBox="1"/>
          <p:nvPr/>
        </p:nvSpPr>
        <p:spPr>
          <a:xfrm>
            <a:off x="8748632" y="3299599"/>
            <a:ext cx="1426615" cy="461665"/>
          </a:xfrm>
          <a:prstGeom prst="rect">
            <a:avLst/>
          </a:prstGeom>
          <a:noFill/>
        </p:spPr>
        <p:txBody>
          <a:bodyPr wrap="square" rtlCol="0">
            <a:spAutoFit/>
          </a:bodyPr>
          <a:lstStyle/>
          <a:p>
            <a:r>
              <a:rPr lang="en-US" sz="1200" dirty="0">
                <a:solidFill>
                  <a:schemeClr val="accent5">
                    <a:lumMod val="60000"/>
                    <a:lumOff val="40000"/>
                  </a:schemeClr>
                </a:solidFill>
              </a:rPr>
              <a:t>Remove associate from database</a:t>
            </a:r>
          </a:p>
        </p:txBody>
      </p:sp>
      <p:cxnSp>
        <p:nvCxnSpPr>
          <p:cNvPr id="25" name="Connector: Elbow 24">
            <a:extLst>
              <a:ext uri="{FF2B5EF4-FFF2-40B4-BE49-F238E27FC236}">
                <a16:creationId xmlns:a16="http://schemas.microsoft.com/office/drawing/2014/main" id="{42F98A8D-3C62-763E-1DE5-067FC9D045CD}"/>
              </a:ext>
            </a:extLst>
          </p:cNvPr>
          <p:cNvCxnSpPr>
            <a:cxnSpLocks/>
            <a:stCxn id="23" idx="3"/>
          </p:cNvCxnSpPr>
          <p:nvPr/>
        </p:nvCxnSpPr>
        <p:spPr>
          <a:xfrm>
            <a:off x="10175247" y="3530432"/>
            <a:ext cx="707066" cy="93831"/>
          </a:xfrm>
          <a:prstGeom prst="bentConnector3">
            <a:avLst>
              <a:gd name="adj1" fmla="val 99843"/>
            </a:avLst>
          </a:prstGeom>
          <a:ln>
            <a:tailEnd type="triangle"/>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0B905B4F-99C0-8A47-32C4-55375D11463D}"/>
              </a:ext>
            </a:extLst>
          </p:cNvPr>
          <p:cNvSpPr txBox="1"/>
          <p:nvPr/>
        </p:nvSpPr>
        <p:spPr>
          <a:xfrm>
            <a:off x="3646899" y="1497153"/>
            <a:ext cx="1407758" cy="246221"/>
          </a:xfrm>
          <a:prstGeom prst="rect">
            <a:avLst/>
          </a:prstGeom>
          <a:noFill/>
        </p:spPr>
        <p:txBody>
          <a:bodyPr wrap="none" rtlCol="0">
            <a:spAutoFit/>
          </a:bodyPr>
          <a:lstStyle/>
          <a:p>
            <a:r>
              <a:rPr lang="en-US" sz="1000" dirty="0">
                <a:solidFill>
                  <a:schemeClr val="accent5">
                    <a:lumMod val="60000"/>
                    <a:lumOff val="40000"/>
                  </a:schemeClr>
                </a:solidFill>
              </a:rPr>
              <a:t>but not badge number</a:t>
            </a:r>
          </a:p>
        </p:txBody>
      </p:sp>
    </p:spTree>
    <p:extLst>
      <p:ext uri="{BB962C8B-B14F-4D97-AF65-F5344CB8AC3E}">
        <p14:creationId xmlns:p14="http://schemas.microsoft.com/office/powerpoint/2010/main" val="565080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EA6BE39-D0DD-A86A-E992-E1AF3777E11C}"/>
              </a:ext>
            </a:extLst>
          </p:cNvPr>
          <p:cNvPicPr>
            <a:picLocks noChangeAspect="1"/>
          </p:cNvPicPr>
          <p:nvPr/>
        </p:nvPicPr>
        <p:blipFill>
          <a:blip r:embed="rId2"/>
          <a:srcRect r="235"/>
          <a:stretch>
            <a:fillRect/>
          </a:stretch>
        </p:blipFill>
        <p:spPr>
          <a:xfrm>
            <a:off x="318825" y="905060"/>
            <a:ext cx="11554350" cy="5754537"/>
          </a:xfrm>
          <a:prstGeom prst="rect">
            <a:avLst/>
          </a:prstGeom>
        </p:spPr>
      </p:pic>
      <p:sp>
        <p:nvSpPr>
          <p:cNvPr id="2" name="Title 1">
            <a:extLst>
              <a:ext uri="{FF2B5EF4-FFF2-40B4-BE49-F238E27FC236}">
                <a16:creationId xmlns:a16="http://schemas.microsoft.com/office/drawing/2014/main" id="{9182EB8F-72DD-0E47-AF5C-098BEE44AAAC}"/>
              </a:ext>
            </a:extLst>
          </p:cNvPr>
          <p:cNvSpPr>
            <a:spLocks noGrp="1"/>
          </p:cNvSpPr>
          <p:nvPr>
            <p:ph type="title"/>
          </p:nvPr>
        </p:nvSpPr>
        <p:spPr/>
        <p:txBody>
          <a:bodyPr>
            <a:normAutofit fontScale="90000"/>
          </a:bodyPr>
          <a:lstStyle/>
          <a:p>
            <a:r>
              <a:rPr lang="en-US" dirty="0"/>
              <a:t>Associate addition</a:t>
            </a:r>
          </a:p>
        </p:txBody>
      </p:sp>
      <p:sp>
        <p:nvSpPr>
          <p:cNvPr id="6" name="TextBox 5">
            <a:extLst>
              <a:ext uri="{FF2B5EF4-FFF2-40B4-BE49-F238E27FC236}">
                <a16:creationId xmlns:a16="http://schemas.microsoft.com/office/drawing/2014/main" id="{5556ED65-25EB-71B6-51E5-9876DB80FBE9}"/>
              </a:ext>
            </a:extLst>
          </p:cNvPr>
          <p:cNvSpPr txBox="1"/>
          <p:nvPr/>
        </p:nvSpPr>
        <p:spPr>
          <a:xfrm>
            <a:off x="5574064" y="2986574"/>
            <a:ext cx="1071127" cy="276999"/>
          </a:xfrm>
          <a:prstGeom prst="rect">
            <a:avLst/>
          </a:prstGeom>
          <a:noFill/>
        </p:spPr>
        <p:txBody>
          <a:bodyPr wrap="none" rtlCol="0">
            <a:spAutoFit/>
          </a:bodyPr>
          <a:lstStyle/>
          <a:p>
            <a:r>
              <a:rPr lang="en-US" sz="1200" dirty="0">
                <a:solidFill>
                  <a:schemeClr val="accent5">
                    <a:lumMod val="60000"/>
                    <a:lumOff val="40000"/>
                  </a:schemeClr>
                </a:solidFill>
              </a:rPr>
              <a:t>Clear &amp; close</a:t>
            </a:r>
          </a:p>
        </p:txBody>
      </p:sp>
      <p:sp>
        <p:nvSpPr>
          <p:cNvPr id="7" name="TextBox 6">
            <a:extLst>
              <a:ext uri="{FF2B5EF4-FFF2-40B4-BE49-F238E27FC236}">
                <a16:creationId xmlns:a16="http://schemas.microsoft.com/office/drawing/2014/main" id="{DE19BCEF-B206-D49D-EE63-1599458FE230}"/>
              </a:ext>
            </a:extLst>
          </p:cNvPr>
          <p:cNvSpPr txBox="1"/>
          <p:nvPr/>
        </p:nvSpPr>
        <p:spPr>
          <a:xfrm>
            <a:off x="6741903" y="2986574"/>
            <a:ext cx="1027845" cy="276999"/>
          </a:xfrm>
          <a:prstGeom prst="rect">
            <a:avLst/>
          </a:prstGeom>
          <a:noFill/>
        </p:spPr>
        <p:txBody>
          <a:bodyPr wrap="none" rtlCol="0">
            <a:spAutoFit/>
          </a:bodyPr>
          <a:lstStyle/>
          <a:p>
            <a:r>
              <a:rPr lang="en-US" sz="1200" dirty="0">
                <a:solidFill>
                  <a:schemeClr val="accent5">
                    <a:lumMod val="60000"/>
                    <a:lumOff val="40000"/>
                  </a:schemeClr>
                </a:solidFill>
              </a:rPr>
              <a:t>Save &amp; close</a:t>
            </a:r>
          </a:p>
        </p:txBody>
      </p:sp>
      <p:sp>
        <p:nvSpPr>
          <p:cNvPr id="8" name="TextBox 7">
            <a:extLst>
              <a:ext uri="{FF2B5EF4-FFF2-40B4-BE49-F238E27FC236}">
                <a16:creationId xmlns:a16="http://schemas.microsoft.com/office/drawing/2014/main" id="{0510BBD0-CCB6-D89E-7AB6-66DF2C6387C0}"/>
              </a:ext>
            </a:extLst>
          </p:cNvPr>
          <p:cNvSpPr txBox="1"/>
          <p:nvPr/>
        </p:nvSpPr>
        <p:spPr>
          <a:xfrm>
            <a:off x="3406500" y="1549399"/>
            <a:ext cx="7588960" cy="461665"/>
          </a:xfrm>
          <a:prstGeom prst="rect">
            <a:avLst/>
          </a:prstGeom>
          <a:noFill/>
        </p:spPr>
        <p:txBody>
          <a:bodyPr wrap="square" rtlCol="0">
            <a:spAutoFit/>
          </a:bodyPr>
          <a:lstStyle/>
          <a:p>
            <a:r>
              <a:rPr lang="en-US" sz="1200" dirty="0">
                <a:solidFill>
                  <a:schemeClr val="accent5">
                    <a:lumMod val="60000"/>
                    <a:lumOff val="40000"/>
                  </a:schemeClr>
                </a:solidFill>
              </a:rPr>
              <a:t>Associates can share names but not associate/badge numbers. If you want to reuse an associate/badge number not currently in circulation, remove the old associate from the database first and you won’t have problems.</a:t>
            </a:r>
          </a:p>
        </p:txBody>
      </p:sp>
      <p:sp>
        <p:nvSpPr>
          <p:cNvPr id="12" name="TextBox 11">
            <a:extLst>
              <a:ext uri="{FF2B5EF4-FFF2-40B4-BE49-F238E27FC236}">
                <a16:creationId xmlns:a16="http://schemas.microsoft.com/office/drawing/2014/main" id="{6917BA2A-8D36-36B9-807E-8B66B3A3D19A}"/>
              </a:ext>
            </a:extLst>
          </p:cNvPr>
          <p:cNvSpPr txBox="1"/>
          <p:nvPr/>
        </p:nvSpPr>
        <p:spPr>
          <a:xfrm>
            <a:off x="2335373" y="2514729"/>
            <a:ext cx="3299620" cy="646331"/>
          </a:xfrm>
          <a:prstGeom prst="rect">
            <a:avLst/>
          </a:prstGeom>
          <a:noFill/>
        </p:spPr>
        <p:txBody>
          <a:bodyPr wrap="square" rtlCol="0">
            <a:spAutoFit/>
          </a:bodyPr>
          <a:lstStyle/>
          <a:p>
            <a:r>
              <a:rPr lang="en-US" sz="1200" dirty="0">
                <a:solidFill>
                  <a:schemeClr val="accent5">
                    <a:lumMod val="60000"/>
                    <a:lumOff val="40000"/>
                  </a:schemeClr>
                </a:solidFill>
              </a:rPr>
              <a:t>These validators trigger immediately when you click away or try to submit. To remove them, fix their problem, then click away/submit again.</a:t>
            </a:r>
          </a:p>
        </p:txBody>
      </p:sp>
      <p:sp>
        <p:nvSpPr>
          <p:cNvPr id="13" name="TextBox 12">
            <a:extLst>
              <a:ext uri="{FF2B5EF4-FFF2-40B4-BE49-F238E27FC236}">
                <a16:creationId xmlns:a16="http://schemas.microsoft.com/office/drawing/2014/main" id="{8945131A-97A9-4359-FDB1-431A8108035A}"/>
              </a:ext>
            </a:extLst>
          </p:cNvPr>
          <p:cNvSpPr txBox="1"/>
          <p:nvPr/>
        </p:nvSpPr>
        <p:spPr>
          <a:xfrm>
            <a:off x="7866460" y="2709575"/>
            <a:ext cx="3596534" cy="461665"/>
          </a:xfrm>
          <a:prstGeom prst="rect">
            <a:avLst/>
          </a:prstGeom>
          <a:noFill/>
        </p:spPr>
        <p:txBody>
          <a:bodyPr wrap="square" rtlCol="0">
            <a:spAutoFit/>
          </a:bodyPr>
          <a:lstStyle/>
          <a:p>
            <a:r>
              <a:rPr lang="en-US" sz="1200" dirty="0">
                <a:solidFill>
                  <a:schemeClr val="accent5">
                    <a:lumMod val="60000"/>
                    <a:lumOff val="40000"/>
                  </a:schemeClr>
                </a:solidFill>
              </a:rPr>
              <a:t>If the ‘Save Associate’ button closes the form without complaint, the save was successful</a:t>
            </a:r>
          </a:p>
        </p:txBody>
      </p:sp>
    </p:spTree>
    <p:extLst>
      <p:ext uri="{BB962C8B-B14F-4D97-AF65-F5344CB8AC3E}">
        <p14:creationId xmlns:p14="http://schemas.microsoft.com/office/powerpoint/2010/main" val="35410677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A7C61-1230-B8AB-E571-77D57ECCDCB4}"/>
              </a:ext>
            </a:extLst>
          </p:cNvPr>
          <p:cNvSpPr>
            <a:spLocks noGrp="1"/>
          </p:cNvSpPr>
          <p:nvPr>
            <p:ph type="title"/>
          </p:nvPr>
        </p:nvSpPr>
        <p:spPr/>
        <p:txBody>
          <a:bodyPr>
            <a:normAutofit fontScale="90000"/>
          </a:bodyPr>
          <a:lstStyle/>
          <a:p>
            <a:r>
              <a:rPr lang="en-US" dirty="0"/>
              <a:t>Associate removal</a:t>
            </a:r>
          </a:p>
        </p:txBody>
      </p:sp>
      <p:pic>
        <p:nvPicPr>
          <p:cNvPr id="5" name="Picture 4">
            <a:extLst>
              <a:ext uri="{FF2B5EF4-FFF2-40B4-BE49-F238E27FC236}">
                <a16:creationId xmlns:a16="http://schemas.microsoft.com/office/drawing/2014/main" id="{CFAEF014-7925-8A23-F5A1-D4BA750B0829}"/>
              </a:ext>
            </a:extLst>
          </p:cNvPr>
          <p:cNvPicPr>
            <a:picLocks noChangeAspect="1"/>
          </p:cNvPicPr>
          <p:nvPr/>
        </p:nvPicPr>
        <p:blipFill>
          <a:blip r:embed="rId2"/>
          <a:stretch>
            <a:fillRect/>
          </a:stretch>
        </p:blipFill>
        <p:spPr>
          <a:xfrm>
            <a:off x="205073" y="982502"/>
            <a:ext cx="11781854" cy="5875498"/>
          </a:xfrm>
          <a:prstGeom prst="rect">
            <a:avLst/>
          </a:prstGeom>
        </p:spPr>
      </p:pic>
      <p:sp>
        <p:nvSpPr>
          <p:cNvPr id="6" name="TextBox 5">
            <a:extLst>
              <a:ext uri="{FF2B5EF4-FFF2-40B4-BE49-F238E27FC236}">
                <a16:creationId xmlns:a16="http://schemas.microsoft.com/office/drawing/2014/main" id="{5B355B17-5827-137C-FC0C-D6D3C1F492CE}"/>
              </a:ext>
            </a:extLst>
          </p:cNvPr>
          <p:cNvSpPr txBox="1"/>
          <p:nvPr/>
        </p:nvSpPr>
        <p:spPr>
          <a:xfrm>
            <a:off x="6280150" y="1781175"/>
            <a:ext cx="1476430" cy="276999"/>
          </a:xfrm>
          <a:prstGeom prst="rect">
            <a:avLst/>
          </a:prstGeom>
          <a:noFill/>
        </p:spPr>
        <p:txBody>
          <a:bodyPr wrap="none" rtlCol="0">
            <a:spAutoFit/>
          </a:bodyPr>
          <a:lstStyle/>
          <a:p>
            <a:r>
              <a:rPr lang="en-US" sz="1200" dirty="0">
                <a:solidFill>
                  <a:schemeClr val="accent5">
                    <a:lumMod val="60000"/>
                    <a:lumOff val="40000"/>
                  </a:schemeClr>
                </a:solidFill>
              </a:rPr>
              <a:t>Removes associate</a:t>
            </a:r>
          </a:p>
        </p:txBody>
      </p:sp>
      <p:cxnSp>
        <p:nvCxnSpPr>
          <p:cNvPr id="8" name="Straight Arrow Connector 7">
            <a:extLst>
              <a:ext uri="{FF2B5EF4-FFF2-40B4-BE49-F238E27FC236}">
                <a16:creationId xmlns:a16="http://schemas.microsoft.com/office/drawing/2014/main" id="{FD0DF0E5-2CA6-9590-DC9A-466484D34516}"/>
              </a:ext>
            </a:extLst>
          </p:cNvPr>
          <p:cNvCxnSpPr/>
          <p:nvPr/>
        </p:nvCxnSpPr>
        <p:spPr>
          <a:xfrm>
            <a:off x="7023100" y="2066925"/>
            <a:ext cx="212725" cy="1746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105ABAF5-9FF0-6FD9-0180-124F59775D74}"/>
              </a:ext>
            </a:extLst>
          </p:cNvPr>
          <p:cNvSpPr txBox="1"/>
          <p:nvPr/>
        </p:nvSpPr>
        <p:spPr>
          <a:xfrm>
            <a:off x="6540157" y="1209675"/>
            <a:ext cx="956416" cy="276999"/>
          </a:xfrm>
          <a:prstGeom prst="rect">
            <a:avLst/>
          </a:prstGeom>
          <a:noFill/>
        </p:spPr>
        <p:txBody>
          <a:bodyPr wrap="none" rtlCol="0">
            <a:spAutoFit/>
          </a:bodyPr>
          <a:lstStyle/>
          <a:p>
            <a:r>
              <a:rPr lang="en-US" sz="1200" dirty="0">
                <a:solidFill>
                  <a:schemeClr val="accent5">
                    <a:lumMod val="60000"/>
                    <a:lumOff val="40000"/>
                  </a:schemeClr>
                </a:solidFill>
              </a:rPr>
              <a:t>Also cancel</a:t>
            </a:r>
          </a:p>
        </p:txBody>
      </p:sp>
      <p:sp>
        <p:nvSpPr>
          <p:cNvPr id="11" name="TextBox 10">
            <a:extLst>
              <a:ext uri="{FF2B5EF4-FFF2-40B4-BE49-F238E27FC236}">
                <a16:creationId xmlns:a16="http://schemas.microsoft.com/office/drawing/2014/main" id="{6FB2B785-C61A-7AE6-6A29-978411FFDC4D}"/>
              </a:ext>
            </a:extLst>
          </p:cNvPr>
          <p:cNvSpPr txBox="1"/>
          <p:nvPr/>
        </p:nvSpPr>
        <p:spPr>
          <a:xfrm>
            <a:off x="5095715" y="2214175"/>
            <a:ext cx="1237839" cy="276999"/>
          </a:xfrm>
          <a:prstGeom prst="rect">
            <a:avLst/>
          </a:prstGeom>
          <a:noFill/>
        </p:spPr>
        <p:txBody>
          <a:bodyPr wrap="none" rtlCol="0">
            <a:spAutoFit/>
          </a:bodyPr>
          <a:lstStyle/>
          <a:p>
            <a:r>
              <a:rPr lang="en-US" sz="1200" dirty="0">
                <a:solidFill>
                  <a:schemeClr val="accent5">
                    <a:lumMod val="60000"/>
                    <a:lumOff val="40000"/>
                  </a:schemeClr>
                </a:solidFill>
              </a:rPr>
              <a:t>Cancel deletion</a:t>
            </a:r>
          </a:p>
        </p:txBody>
      </p:sp>
      <p:sp>
        <p:nvSpPr>
          <p:cNvPr id="12" name="TextBox 11">
            <a:extLst>
              <a:ext uri="{FF2B5EF4-FFF2-40B4-BE49-F238E27FC236}">
                <a16:creationId xmlns:a16="http://schemas.microsoft.com/office/drawing/2014/main" id="{AA6EF203-5F9A-E697-28BD-A26ED62CEAE8}"/>
              </a:ext>
            </a:extLst>
          </p:cNvPr>
          <p:cNvSpPr txBox="1"/>
          <p:nvPr/>
        </p:nvSpPr>
        <p:spPr>
          <a:xfrm>
            <a:off x="4697217" y="4616451"/>
            <a:ext cx="3685880" cy="646331"/>
          </a:xfrm>
          <a:prstGeom prst="rect">
            <a:avLst/>
          </a:prstGeom>
          <a:noFill/>
        </p:spPr>
        <p:txBody>
          <a:bodyPr wrap="square" rtlCol="0">
            <a:spAutoFit/>
          </a:bodyPr>
          <a:lstStyle/>
          <a:p>
            <a:r>
              <a:rPr lang="en-US" dirty="0"/>
              <a:t>This is what you see when you press the trash can for an associate</a:t>
            </a:r>
          </a:p>
        </p:txBody>
      </p:sp>
    </p:spTree>
    <p:extLst>
      <p:ext uri="{BB962C8B-B14F-4D97-AF65-F5344CB8AC3E}">
        <p14:creationId xmlns:p14="http://schemas.microsoft.com/office/powerpoint/2010/main" val="15778369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51164-EDB6-8F53-E615-921A11EA9D98}"/>
              </a:ext>
            </a:extLst>
          </p:cNvPr>
          <p:cNvSpPr>
            <a:spLocks noGrp="1"/>
          </p:cNvSpPr>
          <p:nvPr>
            <p:ph type="title"/>
          </p:nvPr>
        </p:nvSpPr>
        <p:spPr/>
        <p:txBody>
          <a:bodyPr>
            <a:normAutofit fontScale="90000"/>
          </a:bodyPr>
          <a:lstStyle/>
          <a:p>
            <a:r>
              <a:rPr lang="en-US" dirty="0"/>
              <a:t>Empty search</a:t>
            </a:r>
          </a:p>
        </p:txBody>
      </p:sp>
      <p:pic>
        <p:nvPicPr>
          <p:cNvPr id="5" name="Content Placeholder 4">
            <a:extLst>
              <a:ext uri="{FF2B5EF4-FFF2-40B4-BE49-F238E27FC236}">
                <a16:creationId xmlns:a16="http://schemas.microsoft.com/office/drawing/2014/main" id="{FB8CBB77-EC6C-817A-7972-ECD3443EDEF6}"/>
              </a:ext>
            </a:extLst>
          </p:cNvPr>
          <p:cNvPicPr>
            <a:picLocks noGrp="1" noChangeAspect="1"/>
          </p:cNvPicPr>
          <p:nvPr>
            <p:ph idx="1"/>
          </p:nvPr>
        </p:nvPicPr>
        <p:blipFill>
          <a:blip r:embed="rId2"/>
          <a:stretch>
            <a:fillRect/>
          </a:stretch>
        </p:blipFill>
        <p:spPr>
          <a:xfrm>
            <a:off x="291790" y="905060"/>
            <a:ext cx="11557703" cy="5658082"/>
          </a:xfrm>
          <a:prstGeom prst="rect">
            <a:avLst/>
          </a:prstGeom>
        </p:spPr>
      </p:pic>
      <p:sp>
        <p:nvSpPr>
          <p:cNvPr id="6" name="TextBox 5">
            <a:extLst>
              <a:ext uri="{FF2B5EF4-FFF2-40B4-BE49-F238E27FC236}">
                <a16:creationId xmlns:a16="http://schemas.microsoft.com/office/drawing/2014/main" id="{65A6567E-7C20-8A36-8CDF-2CC60C1D1648}"/>
              </a:ext>
            </a:extLst>
          </p:cNvPr>
          <p:cNvSpPr txBox="1"/>
          <p:nvPr/>
        </p:nvSpPr>
        <p:spPr>
          <a:xfrm>
            <a:off x="2584579" y="3059668"/>
            <a:ext cx="7766052" cy="646331"/>
          </a:xfrm>
          <a:prstGeom prst="rect">
            <a:avLst/>
          </a:prstGeom>
          <a:noFill/>
        </p:spPr>
        <p:txBody>
          <a:bodyPr wrap="square" rtlCol="0">
            <a:spAutoFit/>
          </a:bodyPr>
          <a:lstStyle/>
          <a:p>
            <a:r>
              <a:rPr lang="en-US" dirty="0"/>
              <a:t>If you made it here, try a different search, or hit the X button in the search bar to clear it and show the full table. The back button will </a:t>
            </a:r>
            <a:r>
              <a:rPr lang="en-US" b="1" dirty="0"/>
              <a:t>not</a:t>
            </a:r>
            <a:r>
              <a:rPr lang="en-US" dirty="0"/>
              <a:t> do the same thing.</a:t>
            </a:r>
          </a:p>
        </p:txBody>
      </p:sp>
      <p:sp>
        <p:nvSpPr>
          <p:cNvPr id="7" name="TextBox 6">
            <a:extLst>
              <a:ext uri="{FF2B5EF4-FFF2-40B4-BE49-F238E27FC236}">
                <a16:creationId xmlns:a16="http://schemas.microsoft.com/office/drawing/2014/main" id="{E8EEF93A-E27D-917F-0EC6-E9445DBCE143}"/>
              </a:ext>
            </a:extLst>
          </p:cNvPr>
          <p:cNvSpPr txBox="1"/>
          <p:nvPr/>
        </p:nvSpPr>
        <p:spPr>
          <a:xfrm>
            <a:off x="2584579" y="3970404"/>
            <a:ext cx="8581067" cy="1200329"/>
          </a:xfrm>
          <a:prstGeom prst="rect">
            <a:avLst/>
          </a:prstGeom>
          <a:noFill/>
        </p:spPr>
        <p:txBody>
          <a:bodyPr wrap="square" rtlCol="0">
            <a:spAutoFit/>
          </a:bodyPr>
          <a:lstStyle/>
          <a:p>
            <a:r>
              <a:rPr lang="en-US" dirty="0"/>
              <a:t>The most likely reason you come here is that you’re searching for a badge number, which this tool does not support (placeholder tells you it works for name &amp; associate number). If you really need to search by badge number, you’ll have to sort by it and navigate through pages until you find the one you’re looking for.</a:t>
            </a:r>
          </a:p>
        </p:txBody>
      </p:sp>
    </p:spTree>
    <p:extLst>
      <p:ext uri="{BB962C8B-B14F-4D97-AF65-F5344CB8AC3E}">
        <p14:creationId xmlns:p14="http://schemas.microsoft.com/office/powerpoint/2010/main" val="41372925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Picture 29">
            <a:extLst>
              <a:ext uri="{FF2B5EF4-FFF2-40B4-BE49-F238E27FC236}">
                <a16:creationId xmlns:a16="http://schemas.microsoft.com/office/drawing/2014/main" id="{93C08894-F122-E6BE-01D1-9190D61F1254}"/>
              </a:ext>
            </a:extLst>
          </p:cNvPr>
          <p:cNvPicPr>
            <a:picLocks noChangeAspect="1"/>
          </p:cNvPicPr>
          <p:nvPr/>
        </p:nvPicPr>
        <p:blipFill>
          <a:blip r:embed="rId3"/>
          <a:stretch>
            <a:fillRect/>
          </a:stretch>
        </p:blipFill>
        <p:spPr>
          <a:xfrm>
            <a:off x="312738" y="905060"/>
            <a:ext cx="11555411" cy="5744483"/>
          </a:xfrm>
          <a:prstGeom prst="rect">
            <a:avLst/>
          </a:prstGeom>
        </p:spPr>
      </p:pic>
      <p:sp>
        <p:nvSpPr>
          <p:cNvPr id="2" name="Title 1">
            <a:extLst>
              <a:ext uri="{FF2B5EF4-FFF2-40B4-BE49-F238E27FC236}">
                <a16:creationId xmlns:a16="http://schemas.microsoft.com/office/drawing/2014/main" id="{2539BB20-DEF8-1F66-7EA7-0F3F67627279}"/>
              </a:ext>
            </a:extLst>
          </p:cNvPr>
          <p:cNvSpPr>
            <a:spLocks noGrp="1"/>
          </p:cNvSpPr>
          <p:nvPr>
            <p:ph type="title"/>
          </p:nvPr>
        </p:nvSpPr>
        <p:spPr/>
        <p:txBody>
          <a:bodyPr>
            <a:normAutofit fontScale="90000"/>
          </a:bodyPr>
          <a:lstStyle/>
          <a:p>
            <a:r>
              <a:rPr lang="en-US" dirty="0"/>
              <a:t>Line management</a:t>
            </a:r>
          </a:p>
        </p:txBody>
      </p:sp>
      <p:sp>
        <p:nvSpPr>
          <p:cNvPr id="6" name="TextBox 5">
            <a:extLst>
              <a:ext uri="{FF2B5EF4-FFF2-40B4-BE49-F238E27FC236}">
                <a16:creationId xmlns:a16="http://schemas.microsoft.com/office/drawing/2014/main" id="{DACDD0D9-E40D-3C98-1F95-3AD21540207D}"/>
              </a:ext>
            </a:extLst>
          </p:cNvPr>
          <p:cNvSpPr txBox="1"/>
          <p:nvPr/>
        </p:nvSpPr>
        <p:spPr>
          <a:xfrm>
            <a:off x="4667250" y="905060"/>
            <a:ext cx="3028950" cy="646331"/>
          </a:xfrm>
          <a:prstGeom prst="rect">
            <a:avLst/>
          </a:prstGeom>
          <a:noFill/>
        </p:spPr>
        <p:txBody>
          <a:bodyPr wrap="square" rtlCol="0">
            <a:spAutoFit/>
          </a:bodyPr>
          <a:lstStyle/>
          <a:p>
            <a:r>
              <a:rPr lang="en-US" sz="1200" dirty="0">
                <a:solidFill>
                  <a:schemeClr val="accent5">
                    <a:lumMod val="60000"/>
                    <a:lumOff val="40000"/>
                  </a:schemeClr>
                </a:solidFill>
              </a:rPr>
              <a:t>Pressing the three lines next to an associate opens a split screen view showing their authorized lines on the right </a:t>
            </a:r>
          </a:p>
        </p:txBody>
      </p:sp>
      <p:sp>
        <p:nvSpPr>
          <p:cNvPr id="7" name="TextBox 6">
            <a:extLst>
              <a:ext uri="{FF2B5EF4-FFF2-40B4-BE49-F238E27FC236}">
                <a16:creationId xmlns:a16="http://schemas.microsoft.com/office/drawing/2014/main" id="{1F583A37-9B56-E192-8578-0BAFB6FB86A3}"/>
              </a:ext>
            </a:extLst>
          </p:cNvPr>
          <p:cNvSpPr txBox="1"/>
          <p:nvPr/>
        </p:nvSpPr>
        <p:spPr>
          <a:xfrm>
            <a:off x="4143375" y="2629375"/>
            <a:ext cx="1619250" cy="646331"/>
          </a:xfrm>
          <a:prstGeom prst="rect">
            <a:avLst/>
          </a:prstGeom>
          <a:noFill/>
        </p:spPr>
        <p:txBody>
          <a:bodyPr wrap="square" rtlCol="0">
            <a:spAutoFit/>
          </a:bodyPr>
          <a:lstStyle/>
          <a:p>
            <a:r>
              <a:rPr lang="en-US" sz="1200" dirty="0">
                <a:solidFill>
                  <a:schemeClr val="accent5">
                    <a:lumMod val="60000"/>
                    <a:lumOff val="40000"/>
                  </a:schemeClr>
                </a:solidFill>
              </a:rPr>
              <a:t>Pressing the expand button highlights the target associate’s row</a:t>
            </a:r>
          </a:p>
        </p:txBody>
      </p:sp>
      <p:sp>
        <p:nvSpPr>
          <p:cNvPr id="8" name="TextBox 7">
            <a:extLst>
              <a:ext uri="{FF2B5EF4-FFF2-40B4-BE49-F238E27FC236}">
                <a16:creationId xmlns:a16="http://schemas.microsoft.com/office/drawing/2014/main" id="{FDE01C86-68FA-E765-74F0-9D9772AE07EC}"/>
              </a:ext>
            </a:extLst>
          </p:cNvPr>
          <p:cNvSpPr txBox="1"/>
          <p:nvPr/>
        </p:nvSpPr>
        <p:spPr>
          <a:xfrm>
            <a:off x="10383836" y="1628717"/>
            <a:ext cx="1495426" cy="461665"/>
          </a:xfrm>
          <a:prstGeom prst="rect">
            <a:avLst/>
          </a:prstGeom>
          <a:noFill/>
        </p:spPr>
        <p:txBody>
          <a:bodyPr wrap="square" rtlCol="0">
            <a:spAutoFit/>
          </a:bodyPr>
          <a:lstStyle/>
          <a:p>
            <a:r>
              <a:rPr lang="en-US" sz="1200" dirty="0">
                <a:solidFill>
                  <a:schemeClr val="accent5">
                    <a:lumMod val="60000"/>
                    <a:lumOff val="40000"/>
                  </a:schemeClr>
                </a:solidFill>
              </a:rPr>
              <a:t>Open the form to authorize a new line</a:t>
            </a:r>
          </a:p>
        </p:txBody>
      </p:sp>
      <p:sp>
        <p:nvSpPr>
          <p:cNvPr id="9" name="TextBox 8">
            <a:extLst>
              <a:ext uri="{FF2B5EF4-FFF2-40B4-BE49-F238E27FC236}">
                <a16:creationId xmlns:a16="http://schemas.microsoft.com/office/drawing/2014/main" id="{D6954DFD-320B-C6A2-BEC0-E28CC16156E6}"/>
              </a:ext>
            </a:extLst>
          </p:cNvPr>
          <p:cNvSpPr txBox="1"/>
          <p:nvPr/>
        </p:nvSpPr>
        <p:spPr>
          <a:xfrm>
            <a:off x="8306095" y="4582952"/>
            <a:ext cx="1495426" cy="646331"/>
          </a:xfrm>
          <a:prstGeom prst="rect">
            <a:avLst/>
          </a:prstGeom>
          <a:noFill/>
        </p:spPr>
        <p:txBody>
          <a:bodyPr wrap="square" rtlCol="0">
            <a:spAutoFit/>
          </a:bodyPr>
          <a:lstStyle/>
          <a:p>
            <a:r>
              <a:rPr lang="en-US" sz="1200" dirty="0">
                <a:solidFill>
                  <a:schemeClr val="accent5">
                    <a:lumMod val="60000"/>
                    <a:lumOff val="40000"/>
                  </a:schemeClr>
                </a:solidFill>
              </a:rPr>
              <a:t>Open the form to modify privileges for an existing line</a:t>
            </a:r>
          </a:p>
        </p:txBody>
      </p:sp>
      <p:cxnSp>
        <p:nvCxnSpPr>
          <p:cNvPr id="11" name="Connector: Elbow 10">
            <a:extLst>
              <a:ext uri="{FF2B5EF4-FFF2-40B4-BE49-F238E27FC236}">
                <a16:creationId xmlns:a16="http://schemas.microsoft.com/office/drawing/2014/main" id="{E72AC951-3A33-DC32-6B0A-76EC88CD9964}"/>
              </a:ext>
            </a:extLst>
          </p:cNvPr>
          <p:cNvCxnSpPr>
            <a:cxnSpLocks/>
          </p:cNvCxnSpPr>
          <p:nvPr/>
        </p:nvCxnSpPr>
        <p:spPr>
          <a:xfrm flipV="1">
            <a:off x="9053810" y="3674507"/>
            <a:ext cx="2045195" cy="908445"/>
          </a:xfrm>
          <a:prstGeom prst="bentConnector3">
            <a:avLst>
              <a:gd name="adj1" fmla="val 82368"/>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AC92C180-92BD-A8EF-2AA6-E0325B7A7277}"/>
              </a:ext>
            </a:extLst>
          </p:cNvPr>
          <p:cNvSpPr txBox="1"/>
          <p:nvPr/>
        </p:nvSpPr>
        <p:spPr>
          <a:xfrm>
            <a:off x="10192840" y="4615014"/>
            <a:ext cx="1752600" cy="461665"/>
          </a:xfrm>
          <a:prstGeom prst="rect">
            <a:avLst/>
          </a:prstGeom>
          <a:noFill/>
        </p:spPr>
        <p:txBody>
          <a:bodyPr wrap="square" rtlCol="0">
            <a:spAutoFit/>
          </a:bodyPr>
          <a:lstStyle/>
          <a:p>
            <a:r>
              <a:rPr lang="en-US" sz="1200" dirty="0">
                <a:solidFill>
                  <a:schemeClr val="accent5">
                    <a:lumMod val="60000"/>
                    <a:lumOff val="40000"/>
                  </a:schemeClr>
                </a:solidFill>
              </a:rPr>
              <a:t>Revoke privileges for this line (delete dialog)</a:t>
            </a:r>
          </a:p>
        </p:txBody>
      </p:sp>
      <p:cxnSp>
        <p:nvCxnSpPr>
          <p:cNvPr id="19" name="Connector: Elbow 18">
            <a:extLst>
              <a:ext uri="{FF2B5EF4-FFF2-40B4-BE49-F238E27FC236}">
                <a16:creationId xmlns:a16="http://schemas.microsoft.com/office/drawing/2014/main" id="{BA0ADF18-B87F-96DD-A9D0-3C444AC5F973}"/>
              </a:ext>
            </a:extLst>
          </p:cNvPr>
          <p:cNvCxnSpPr/>
          <p:nvPr/>
        </p:nvCxnSpPr>
        <p:spPr>
          <a:xfrm flipV="1">
            <a:off x="11069140" y="4444546"/>
            <a:ext cx="363536" cy="170468"/>
          </a:xfrm>
          <a:prstGeom prst="bentConnector3">
            <a:avLst>
              <a:gd name="adj1" fmla="val 100437"/>
            </a:avLst>
          </a:prstGeom>
          <a:ln>
            <a:tailEnd type="triangle"/>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24F8C942-5A14-2A3C-0A8B-F71081DFB6B3}"/>
              </a:ext>
            </a:extLst>
          </p:cNvPr>
          <p:cNvSpPr txBox="1"/>
          <p:nvPr/>
        </p:nvSpPr>
        <p:spPr>
          <a:xfrm>
            <a:off x="10953050" y="612373"/>
            <a:ext cx="915099" cy="461665"/>
          </a:xfrm>
          <a:prstGeom prst="rect">
            <a:avLst/>
          </a:prstGeom>
          <a:noFill/>
        </p:spPr>
        <p:txBody>
          <a:bodyPr wrap="square" rtlCol="0">
            <a:spAutoFit/>
          </a:bodyPr>
          <a:lstStyle/>
          <a:p>
            <a:r>
              <a:rPr lang="en-US" sz="1200" dirty="0">
                <a:solidFill>
                  <a:schemeClr val="accent5">
                    <a:lumMod val="60000"/>
                    <a:lumOff val="40000"/>
                  </a:schemeClr>
                </a:solidFill>
              </a:rPr>
              <a:t>Close split screen</a:t>
            </a:r>
          </a:p>
        </p:txBody>
      </p:sp>
      <p:sp>
        <p:nvSpPr>
          <p:cNvPr id="28" name="TextBox 27">
            <a:extLst>
              <a:ext uri="{FF2B5EF4-FFF2-40B4-BE49-F238E27FC236}">
                <a16:creationId xmlns:a16="http://schemas.microsoft.com/office/drawing/2014/main" id="{8DDB8DE0-DBB3-42D3-BFEA-6E60665D3161}"/>
              </a:ext>
            </a:extLst>
          </p:cNvPr>
          <p:cNvSpPr txBox="1"/>
          <p:nvPr/>
        </p:nvSpPr>
        <p:spPr>
          <a:xfrm>
            <a:off x="5949951" y="2736850"/>
            <a:ext cx="917574" cy="461665"/>
          </a:xfrm>
          <a:prstGeom prst="rect">
            <a:avLst/>
          </a:prstGeom>
          <a:noFill/>
        </p:spPr>
        <p:txBody>
          <a:bodyPr wrap="square" rtlCol="0">
            <a:spAutoFit/>
          </a:bodyPr>
          <a:lstStyle/>
          <a:p>
            <a:r>
              <a:rPr lang="en-US" sz="1200" dirty="0">
                <a:solidFill>
                  <a:schemeClr val="accent5">
                    <a:lumMod val="60000"/>
                    <a:lumOff val="40000"/>
                  </a:schemeClr>
                </a:solidFill>
              </a:rPr>
              <a:t>Close split screen</a:t>
            </a:r>
          </a:p>
        </p:txBody>
      </p:sp>
    </p:spTree>
    <p:extLst>
      <p:ext uri="{BB962C8B-B14F-4D97-AF65-F5344CB8AC3E}">
        <p14:creationId xmlns:p14="http://schemas.microsoft.com/office/powerpoint/2010/main" val="19364017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01328-71D7-24A8-7930-8F1F4E0405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EC0ADC-2F0C-B55A-2B8D-1E1E01ECA83E}"/>
              </a:ext>
            </a:extLst>
          </p:cNvPr>
          <p:cNvSpPr>
            <a:spLocks noGrp="1"/>
          </p:cNvSpPr>
          <p:nvPr>
            <p:ph type="title"/>
          </p:nvPr>
        </p:nvSpPr>
        <p:spPr/>
        <p:txBody>
          <a:bodyPr>
            <a:normAutofit fontScale="90000"/>
          </a:bodyPr>
          <a:lstStyle/>
          <a:p>
            <a:r>
              <a:rPr lang="en-US" dirty="0"/>
              <a:t>Line addition</a:t>
            </a:r>
          </a:p>
        </p:txBody>
      </p:sp>
      <p:pic>
        <p:nvPicPr>
          <p:cNvPr id="4" name="Picture 3">
            <a:extLst>
              <a:ext uri="{FF2B5EF4-FFF2-40B4-BE49-F238E27FC236}">
                <a16:creationId xmlns:a16="http://schemas.microsoft.com/office/drawing/2014/main" id="{4CCCA4CC-0D6A-376A-75C1-506E420406F5}"/>
              </a:ext>
            </a:extLst>
          </p:cNvPr>
          <p:cNvPicPr>
            <a:picLocks noChangeAspect="1"/>
          </p:cNvPicPr>
          <p:nvPr/>
        </p:nvPicPr>
        <p:blipFill>
          <a:blip r:embed="rId2"/>
          <a:stretch>
            <a:fillRect/>
          </a:stretch>
        </p:blipFill>
        <p:spPr>
          <a:xfrm>
            <a:off x="301658" y="1016996"/>
            <a:ext cx="11582596" cy="5755027"/>
          </a:xfrm>
          <a:prstGeom prst="rect">
            <a:avLst/>
          </a:prstGeom>
        </p:spPr>
      </p:pic>
      <p:sp>
        <p:nvSpPr>
          <p:cNvPr id="9" name="TextBox 8">
            <a:extLst>
              <a:ext uri="{FF2B5EF4-FFF2-40B4-BE49-F238E27FC236}">
                <a16:creationId xmlns:a16="http://schemas.microsoft.com/office/drawing/2014/main" id="{02E0FDB0-462F-2450-73E4-BB746D489B05}"/>
              </a:ext>
            </a:extLst>
          </p:cNvPr>
          <p:cNvSpPr txBox="1"/>
          <p:nvPr/>
        </p:nvSpPr>
        <p:spPr>
          <a:xfrm>
            <a:off x="9901467" y="1738313"/>
            <a:ext cx="2052637" cy="461665"/>
          </a:xfrm>
          <a:prstGeom prst="rect">
            <a:avLst/>
          </a:prstGeom>
          <a:noFill/>
        </p:spPr>
        <p:txBody>
          <a:bodyPr wrap="square" rtlCol="0">
            <a:spAutoFit/>
          </a:bodyPr>
          <a:lstStyle/>
          <a:p>
            <a:r>
              <a:rPr lang="en-US" sz="1200" dirty="0">
                <a:solidFill>
                  <a:schemeClr val="accent5">
                    <a:lumMod val="60000"/>
                    <a:lumOff val="40000"/>
                  </a:schemeClr>
                </a:solidFill>
              </a:rPr>
              <a:t>The highest lockout level releasable by this associate</a:t>
            </a:r>
          </a:p>
        </p:txBody>
      </p:sp>
      <p:sp>
        <p:nvSpPr>
          <p:cNvPr id="10" name="TextBox 9">
            <a:extLst>
              <a:ext uri="{FF2B5EF4-FFF2-40B4-BE49-F238E27FC236}">
                <a16:creationId xmlns:a16="http://schemas.microsoft.com/office/drawing/2014/main" id="{A4A9C4C7-0202-03CF-F5E3-E80750D3B0F2}"/>
              </a:ext>
            </a:extLst>
          </p:cNvPr>
          <p:cNvSpPr txBox="1"/>
          <p:nvPr/>
        </p:nvSpPr>
        <p:spPr>
          <a:xfrm>
            <a:off x="7848830" y="2798763"/>
            <a:ext cx="2052637" cy="646331"/>
          </a:xfrm>
          <a:prstGeom prst="rect">
            <a:avLst/>
          </a:prstGeom>
          <a:noFill/>
        </p:spPr>
        <p:txBody>
          <a:bodyPr wrap="square" rtlCol="0">
            <a:spAutoFit/>
          </a:bodyPr>
          <a:lstStyle/>
          <a:p>
            <a:r>
              <a:rPr lang="en-US" sz="1200" dirty="0">
                <a:solidFill>
                  <a:schemeClr val="accent5">
                    <a:lumMod val="60000"/>
                    <a:lumOff val="40000"/>
                  </a:schemeClr>
                </a:solidFill>
              </a:rPr>
              <a:t>There’s a dropdown that provides only</a:t>
            </a:r>
          </a:p>
          <a:p>
            <a:r>
              <a:rPr lang="en-US" sz="1200" dirty="0">
                <a:solidFill>
                  <a:schemeClr val="accent5">
                    <a:lumMod val="60000"/>
                    <a:lumOff val="40000"/>
                  </a:schemeClr>
                </a:solidFill>
              </a:rPr>
              <a:t>valid lines</a:t>
            </a:r>
          </a:p>
        </p:txBody>
      </p:sp>
      <p:sp>
        <p:nvSpPr>
          <p:cNvPr id="11" name="TextBox 10">
            <a:extLst>
              <a:ext uri="{FF2B5EF4-FFF2-40B4-BE49-F238E27FC236}">
                <a16:creationId xmlns:a16="http://schemas.microsoft.com/office/drawing/2014/main" id="{5DC0083A-65E9-8991-2C58-1B7AA200B279}"/>
              </a:ext>
            </a:extLst>
          </p:cNvPr>
          <p:cNvSpPr txBox="1"/>
          <p:nvPr/>
        </p:nvSpPr>
        <p:spPr>
          <a:xfrm>
            <a:off x="10501314" y="2509838"/>
            <a:ext cx="1033462" cy="461665"/>
          </a:xfrm>
          <a:prstGeom prst="rect">
            <a:avLst/>
          </a:prstGeom>
          <a:noFill/>
        </p:spPr>
        <p:txBody>
          <a:bodyPr wrap="square" rtlCol="0">
            <a:spAutoFit/>
          </a:bodyPr>
          <a:lstStyle/>
          <a:p>
            <a:r>
              <a:rPr lang="en-US" sz="1200" dirty="0">
                <a:solidFill>
                  <a:schemeClr val="accent5">
                    <a:lumMod val="60000"/>
                    <a:lumOff val="40000"/>
                  </a:schemeClr>
                </a:solidFill>
              </a:rPr>
              <a:t>Clamped to valid values</a:t>
            </a:r>
          </a:p>
        </p:txBody>
      </p:sp>
    </p:spTree>
    <p:extLst>
      <p:ext uri="{BB962C8B-B14F-4D97-AF65-F5344CB8AC3E}">
        <p14:creationId xmlns:p14="http://schemas.microsoft.com/office/powerpoint/2010/main" val="22088164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BB3FC-6D58-955F-1C01-F5459B6E87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06B3DD-E1E0-9F46-FE96-8C2337C637FC}"/>
              </a:ext>
            </a:extLst>
          </p:cNvPr>
          <p:cNvSpPr>
            <a:spLocks noGrp="1"/>
          </p:cNvSpPr>
          <p:nvPr>
            <p:ph type="title"/>
          </p:nvPr>
        </p:nvSpPr>
        <p:spPr/>
        <p:txBody>
          <a:bodyPr>
            <a:normAutofit fontScale="90000"/>
          </a:bodyPr>
          <a:lstStyle/>
          <a:p>
            <a:r>
              <a:rPr lang="en-US" dirty="0"/>
              <a:t>Line update</a:t>
            </a:r>
          </a:p>
        </p:txBody>
      </p:sp>
      <p:pic>
        <p:nvPicPr>
          <p:cNvPr id="9" name="Content Placeholder 8">
            <a:extLst>
              <a:ext uri="{FF2B5EF4-FFF2-40B4-BE49-F238E27FC236}">
                <a16:creationId xmlns:a16="http://schemas.microsoft.com/office/drawing/2014/main" id="{EA21D2E1-76D3-22B2-B51B-E64A748EE0FD}"/>
              </a:ext>
            </a:extLst>
          </p:cNvPr>
          <p:cNvPicPr>
            <a:picLocks noGrp="1" noChangeAspect="1"/>
          </p:cNvPicPr>
          <p:nvPr>
            <p:ph idx="1"/>
          </p:nvPr>
        </p:nvPicPr>
        <p:blipFill>
          <a:blip r:embed="rId2"/>
          <a:stretch>
            <a:fillRect/>
          </a:stretch>
        </p:blipFill>
        <p:spPr>
          <a:xfrm>
            <a:off x="308968" y="905060"/>
            <a:ext cx="11578232" cy="5767977"/>
          </a:xfrm>
          <a:prstGeom prst="rect">
            <a:avLst/>
          </a:prstGeom>
        </p:spPr>
      </p:pic>
      <p:sp>
        <p:nvSpPr>
          <p:cNvPr id="10" name="TextBox 9">
            <a:extLst>
              <a:ext uri="{FF2B5EF4-FFF2-40B4-BE49-F238E27FC236}">
                <a16:creationId xmlns:a16="http://schemas.microsoft.com/office/drawing/2014/main" id="{95330153-FD92-D840-CDA1-3B352953601D}"/>
              </a:ext>
            </a:extLst>
          </p:cNvPr>
          <p:cNvSpPr txBox="1"/>
          <p:nvPr/>
        </p:nvSpPr>
        <p:spPr>
          <a:xfrm>
            <a:off x="7972425" y="6038850"/>
            <a:ext cx="3607847" cy="276999"/>
          </a:xfrm>
          <a:prstGeom prst="rect">
            <a:avLst/>
          </a:prstGeom>
          <a:noFill/>
        </p:spPr>
        <p:txBody>
          <a:bodyPr wrap="none" rtlCol="0">
            <a:spAutoFit/>
          </a:bodyPr>
          <a:lstStyle/>
          <a:p>
            <a:r>
              <a:rPr lang="en-US" sz="1200" dirty="0">
                <a:solidFill>
                  <a:schemeClr val="accent5">
                    <a:lumMod val="60000"/>
                    <a:lumOff val="40000"/>
                  </a:schemeClr>
                </a:solidFill>
              </a:rPr>
              <a:t>Pressing the expand button highlights the target row</a:t>
            </a:r>
          </a:p>
        </p:txBody>
      </p:sp>
      <p:sp>
        <p:nvSpPr>
          <p:cNvPr id="11" name="TextBox 10">
            <a:extLst>
              <a:ext uri="{FF2B5EF4-FFF2-40B4-BE49-F238E27FC236}">
                <a16:creationId xmlns:a16="http://schemas.microsoft.com/office/drawing/2014/main" id="{48606123-8CE9-6A62-4325-8003ED674D33}"/>
              </a:ext>
            </a:extLst>
          </p:cNvPr>
          <p:cNvSpPr txBox="1"/>
          <p:nvPr/>
        </p:nvSpPr>
        <p:spPr>
          <a:xfrm>
            <a:off x="7972425" y="1802311"/>
            <a:ext cx="3288208" cy="276999"/>
          </a:xfrm>
          <a:prstGeom prst="rect">
            <a:avLst/>
          </a:prstGeom>
          <a:noFill/>
        </p:spPr>
        <p:txBody>
          <a:bodyPr wrap="none" rtlCol="0">
            <a:spAutoFit/>
          </a:bodyPr>
          <a:lstStyle/>
          <a:p>
            <a:r>
              <a:rPr lang="en-US" sz="1200" dirty="0">
                <a:solidFill>
                  <a:schemeClr val="accent5">
                    <a:lumMod val="60000"/>
                    <a:lumOff val="40000"/>
                  </a:schemeClr>
                </a:solidFill>
              </a:rPr>
              <a:t>Can’t change line name, but can edit auth level</a:t>
            </a:r>
          </a:p>
        </p:txBody>
      </p:sp>
    </p:spTree>
    <p:extLst>
      <p:ext uri="{BB962C8B-B14F-4D97-AF65-F5344CB8AC3E}">
        <p14:creationId xmlns:p14="http://schemas.microsoft.com/office/powerpoint/2010/main" val="36532328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55D05A-C958-EADA-99D9-E4996877627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09536C5-D849-FF70-9822-4EF4CA75BE60}"/>
              </a:ext>
            </a:extLst>
          </p:cNvPr>
          <p:cNvPicPr>
            <a:picLocks noChangeAspect="1"/>
          </p:cNvPicPr>
          <p:nvPr/>
        </p:nvPicPr>
        <p:blipFill>
          <a:blip r:embed="rId2"/>
          <a:stretch>
            <a:fillRect/>
          </a:stretch>
        </p:blipFill>
        <p:spPr>
          <a:xfrm>
            <a:off x="311085" y="905060"/>
            <a:ext cx="11585542" cy="5738237"/>
          </a:xfrm>
          <a:prstGeom prst="rect">
            <a:avLst/>
          </a:prstGeom>
        </p:spPr>
      </p:pic>
      <p:sp>
        <p:nvSpPr>
          <p:cNvPr id="2" name="Title 1">
            <a:extLst>
              <a:ext uri="{FF2B5EF4-FFF2-40B4-BE49-F238E27FC236}">
                <a16:creationId xmlns:a16="http://schemas.microsoft.com/office/drawing/2014/main" id="{EA7C9B24-FA12-59EB-6D2D-8FFE5FCD2495}"/>
              </a:ext>
            </a:extLst>
          </p:cNvPr>
          <p:cNvSpPr>
            <a:spLocks noGrp="1"/>
          </p:cNvSpPr>
          <p:nvPr>
            <p:ph type="title"/>
          </p:nvPr>
        </p:nvSpPr>
        <p:spPr/>
        <p:txBody>
          <a:bodyPr>
            <a:normAutofit fontScale="90000"/>
          </a:bodyPr>
          <a:lstStyle/>
          <a:p>
            <a:r>
              <a:rPr lang="en-US" dirty="0"/>
              <a:t>Line removal</a:t>
            </a:r>
          </a:p>
        </p:txBody>
      </p:sp>
      <p:sp>
        <p:nvSpPr>
          <p:cNvPr id="6" name="TextBox 5">
            <a:extLst>
              <a:ext uri="{FF2B5EF4-FFF2-40B4-BE49-F238E27FC236}">
                <a16:creationId xmlns:a16="http://schemas.microsoft.com/office/drawing/2014/main" id="{F0E759CB-89D7-2B1F-569E-5DD58979ECDC}"/>
              </a:ext>
            </a:extLst>
          </p:cNvPr>
          <p:cNvSpPr txBox="1"/>
          <p:nvPr/>
        </p:nvSpPr>
        <p:spPr>
          <a:xfrm>
            <a:off x="6280150" y="1643391"/>
            <a:ext cx="1323997" cy="461665"/>
          </a:xfrm>
          <a:prstGeom prst="rect">
            <a:avLst/>
          </a:prstGeom>
          <a:noFill/>
        </p:spPr>
        <p:txBody>
          <a:bodyPr wrap="square" rtlCol="0">
            <a:spAutoFit/>
          </a:bodyPr>
          <a:lstStyle/>
          <a:p>
            <a:r>
              <a:rPr lang="en-US" sz="1200" dirty="0">
                <a:solidFill>
                  <a:schemeClr val="accent5">
                    <a:lumMod val="60000"/>
                    <a:lumOff val="40000"/>
                  </a:schemeClr>
                </a:solidFill>
              </a:rPr>
              <a:t>Removes line from associate</a:t>
            </a:r>
          </a:p>
        </p:txBody>
      </p:sp>
      <p:cxnSp>
        <p:nvCxnSpPr>
          <p:cNvPr id="8" name="Straight Arrow Connector 7">
            <a:extLst>
              <a:ext uri="{FF2B5EF4-FFF2-40B4-BE49-F238E27FC236}">
                <a16:creationId xmlns:a16="http://schemas.microsoft.com/office/drawing/2014/main" id="{86F9D3DF-A617-F3A2-2757-72D1A80208B8}"/>
              </a:ext>
            </a:extLst>
          </p:cNvPr>
          <p:cNvCxnSpPr/>
          <p:nvPr/>
        </p:nvCxnSpPr>
        <p:spPr>
          <a:xfrm>
            <a:off x="7023100" y="2066925"/>
            <a:ext cx="212725" cy="1746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70F1E900-9919-AA6F-A9B4-33B8155E5256}"/>
              </a:ext>
            </a:extLst>
          </p:cNvPr>
          <p:cNvSpPr txBox="1"/>
          <p:nvPr/>
        </p:nvSpPr>
        <p:spPr>
          <a:xfrm>
            <a:off x="6540157" y="1209675"/>
            <a:ext cx="956416" cy="276999"/>
          </a:xfrm>
          <a:prstGeom prst="rect">
            <a:avLst/>
          </a:prstGeom>
          <a:noFill/>
        </p:spPr>
        <p:txBody>
          <a:bodyPr wrap="none" rtlCol="0">
            <a:spAutoFit/>
          </a:bodyPr>
          <a:lstStyle/>
          <a:p>
            <a:r>
              <a:rPr lang="en-US" sz="1200" dirty="0">
                <a:solidFill>
                  <a:schemeClr val="accent5">
                    <a:lumMod val="60000"/>
                    <a:lumOff val="40000"/>
                  </a:schemeClr>
                </a:solidFill>
              </a:rPr>
              <a:t>Also cancel</a:t>
            </a:r>
          </a:p>
        </p:txBody>
      </p:sp>
      <p:sp>
        <p:nvSpPr>
          <p:cNvPr id="11" name="TextBox 10">
            <a:extLst>
              <a:ext uri="{FF2B5EF4-FFF2-40B4-BE49-F238E27FC236}">
                <a16:creationId xmlns:a16="http://schemas.microsoft.com/office/drawing/2014/main" id="{0E09CC09-8774-BE0B-2FA7-EFE29EE8C089}"/>
              </a:ext>
            </a:extLst>
          </p:cNvPr>
          <p:cNvSpPr txBox="1"/>
          <p:nvPr/>
        </p:nvSpPr>
        <p:spPr>
          <a:xfrm>
            <a:off x="5095715" y="2214175"/>
            <a:ext cx="1237839" cy="276999"/>
          </a:xfrm>
          <a:prstGeom prst="rect">
            <a:avLst/>
          </a:prstGeom>
          <a:noFill/>
        </p:spPr>
        <p:txBody>
          <a:bodyPr wrap="none" rtlCol="0">
            <a:spAutoFit/>
          </a:bodyPr>
          <a:lstStyle/>
          <a:p>
            <a:r>
              <a:rPr lang="en-US" sz="1200" dirty="0">
                <a:solidFill>
                  <a:schemeClr val="accent5">
                    <a:lumMod val="60000"/>
                    <a:lumOff val="40000"/>
                  </a:schemeClr>
                </a:solidFill>
              </a:rPr>
              <a:t>Cancel deletion</a:t>
            </a:r>
          </a:p>
        </p:txBody>
      </p:sp>
      <p:sp>
        <p:nvSpPr>
          <p:cNvPr id="12" name="TextBox 11">
            <a:extLst>
              <a:ext uri="{FF2B5EF4-FFF2-40B4-BE49-F238E27FC236}">
                <a16:creationId xmlns:a16="http://schemas.microsoft.com/office/drawing/2014/main" id="{CE6DEEEB-BB97-10BA-01B7-CC03331EF4B7}"/>
              </a:ext>
            </a:extLst>
          </p:cNvPr>
          <p:cNvSpPr txBox="1"/>
          <p:nvPr/>
        </p:nvSpPr>
        <p:spPr>
          <a:xfrm>
            <a:off x="7604147" y="4654158"/>
            <a:ext cx="4198212" cy="1754326"/>
          </a:xfrm>
          <a:prstGeom prst="rect">
            <a:avLst/>
          </a:prstGeom>
          <a:noFill/>
        </p:spPr>
        <p:txBody>
          <a:bodyPr wrap="square" rtlCol="0">
            <a:spAutoFit/>
          </a:bodyPr>
          <a:lstStyle/>
          <a:p>
            <a:r>
              <a:rPr lang="en-US" dirty="0"/>
              <a:t>This is what you see when you press the trash can for an associate’s line</a:t>
            </a:r>
          </a:p>
          <a:p>
            <a:endParaRPr lang="en-US" dirty="0"/>
          </a:p>
          <a:p>
            <a:r>
              <a:rPr lang="en-US" dirty="0"/>
              <a:t>Notably, this only revokes this associate’s reset privileges for this line. It does not delete the line.</a:t>
            </a:r>
          </a:p>
        </p:txBody>
      </p:sp>
    </p:spTree>
    <p:extLst>
      <p:ext uri="{BB962C8B-B14F-4D97-AF65-F5344CB8AC3E}">
        <p14:creationId xmlns:p14="http://schemas.microsoft.com/office/powerpoint/2010/main" val="5138623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E0CD0-C9DB-7EA0-FDC1-3183B397AD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575280-0382-B9E5-13A6-B12057E94063}"/>
              </a:ext>
            </a:extLst>
          </p:cNvPr>
          <p:cNvSpPr>
            <a:spLocks noGrp="1"/>
          </p:cNvSpPr>
          <p:nvPr>
            <p:ph type="title"/>
          </p:nvPr>
        </p:nvSpPr>
        <p:spPr/>
        <p:txBody>
          <a:bodyPr>
            <a:normAutofit fontScale="90000"/>
          </a:bodyPr>
          <a:lstStyle/>
          <a:p>
            <a:r>
              <a:rPr lang="en-US" dirty="0"/>
              <a:t>Update CMMS mappings page</a:t>
            </a:r>
          </a:p>
        </p:txBody>
      </p:sp>
      <p:pic>
        <p:nvPicPr>
          <p:cNvPr id="9" name="Picture 8">
            <a:extLst>
              <a:ext uri="{FF2B5EF4-FFF2-40B4-BE49-F238E27FC236}">
                <a16:creationId xmlns:a16="http://schemas.microsoft.com/office/drawing/2014/main" id="{7F930656-997A-8607-CF0E-2E9AE5A66111}"/>
              </a:ext>
            </a:extLst>
          </p:cNvPr>
          <p:cNvPicPr>
            <a:picLocks noChangeAspect="1"/>
          </p:cNvPicPr>
          <p:nvPr/>
        </p:nvPicPr>
        <p:blipFill>
          <a:blip r:embed="rId2"/>
          <a:stretch>
            <a:fillRect/>
          </a:stretch>
        </p:blipFill>
        <p:spPr>
          <a:xfrm>
            <a:off x="304800" y="905060"/>
            <a:ext cx="11553825" cy="5704475"/>
          </a:xfrm>
          <a:prstGeom prst="rect">
            <a:avLst/>
          </a:prstGeom>
        </p:spPr>
      </p:pic>
      <p:sp>
        <p:nvSpPr>
          <p:cNvPr id="10" name="TextBox 9">
            <a:extLst>
              <a:ext uri="{FF2B5EF4-FFF2-40B4-BE49-F238E27FC236}">
                <a16:creationId xmlns:a16="http://schemas.microsoft.com/office/drawing/2014/main" id="{40F9E787-298F-4E8C-0E11-EE0F768E08C6}"/>
              </a:ext>
            </a:extLst>
          </p:cNvPr>
          <p:cNvSpPr txBox="1"/>
          <p:nvPr/>
        </p:nvSpPr>
        <p:spPr>
          <a:xfrm>
            <a:off x="4933950" y="2295525"/>
            <a:ext cx="3701270" cy="276999"/>
          </a:xfrm>
          <a:prstGeom prst="rect">
            <a:avLst/>
          </a:prstGeom>
          <a:noFill/>
        </p:spPr>
        <p:txBody>
          <a:bodyPr wrap="none" rtlCol="0">
            <a:spAutoFit/>
          </a:bodyPr>
          <a:lstStyle/>
          <a:p>
            <a:r>
              <a:rPr lang="en-US" sz="1200" dirty="0">
                <a:solidFill>
                  <a:schemeClr val="accent5">
                    <a:lumMod val="60000"/>
                    <a:lumOff val="40000"/>
                  </a:schemeClr>
                </a:solidFill>
              </a:rPr>
              <a:t>Click button or drag/drop to this area to upload a CSV</a:t>
            </a:r>
          </a:p>
        </p:txBody>
      </p:sp>
    </p:spTree>
    <p:extLst>
      <p:ext uri="{BB962C8B-B14F-4D97-AF65-F5344CB8AC3E}">
        <p14:creationId xmlns:p14="http://schemas.microsoft.com/office/powerpoint/2010/main" val="32392073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A11BC-959E-17EE-3924-576C94C09A55}"/>
              </a:ext>
            </a:extLst>
          </p:cNvPr>
          <p:cNvSpPr>
            <a:spLocks noGrp="1"/>
          </p:cNvSpPr>
          <p:nvPr>
            <p:ph type="title"/>
          </p:nvPr>
        </p:nvSpPr>
        <p:spPr/>
        <p:txBody>
          <a:bodyPr>
            <a:normAutofit fontScale="90000"/>
          </a:bodyPr>
          <a:lstStyle/>
          <a:p>
            <a:r>
              <a:rPr lang="en-US" dirty="0"/>
              <a:t>CSV upload confirmation</a:t>
            </a:r>
          </a:p>
        </p:txBody>
      </p:sp>
      <p:pic>
        <p:nvPicPr>
          <p:cNvPr id="5" name="Content Placeholder 4">
            <a:extLst>
              <a:ext uri="{FF2B5EF4-FFF2-40B4-BE49-F238E27FC236}">
                <a16:creationId xmlns:a16="http://schemas.microsoft.com/office/drawing/2014/main" id="{F2CA6E80-D678-8CD7-31C7-FC1C4879C259}"/>
              </a:ext>
            </a:extLst>
          </p:cNvPr>
          <p:cNvPicPr>
            <a:picLocks noGrp="1" noChangeAspect="1"/>
          </p:cNvPicPr>
          <p:nvPr>
            <p:ph idx="1"/>
          </p:nvPr>
        </p:nvPicPr>
        <p:blipFill>
          <a:blip r:embed="rId2"/>
          <a:stretch>
            <a:fillRect/>
          </a:stretch>
        </p:blipFill>
        <p:spPr>
          <a:xfrm>
            <a:off x="317351" y="905060"/>
            <a:ext cx="11560324" cy="5752969"/>
          </a:xfrm>
          <a:prstGeom prst="rect">
            <a:avLst/>
          </a:prstGeom>
        </p:spPr>
      </p:pic>
      <p:sp>
        <p:nvSpPr>
          <p:cNvPr id="6" name="TextBox 5">
            <a:extLst>
              <a:ext uri="{FF2B5EF4-FFF2-40B4-BE49-F238E27FC236}">
                <a16:creationId xmlns:a16="http://schemas.microsoft.com/office/drawing/2014/main" id="{2721500B-280D-67E6-1422-DE1D9A7E1E32}"/>
              </a:ext>
            </a:extLst>
          </p:cNvPr>
          <p:cNvSpPr txBox="1"/>
          <p:nvPr/>
        </p:nvSpPr>
        <p:spPr>
          <a:xfrm>
            <a:off x="5095875" y="3152001"/>
            <a:ext cx="3665299" cy="276999"/>
          </a:xfrm>
          <a:prstGeom prst="rect">
            <a:avLst/>
          </a:prstGeom>
          <a:noFill/>
        </p:spPr>
        <p:txBody>
          <a:bodyPr wrap="none" rtlCol="0">
            <a:spAutoFit/>
          </a:bodyPr>
          <a:lstStyle/>
          <a:p>
            <a:r>
              <a:rPr lang="en-US" sz="1200" dirty="0">
                <a:solidFill>
                  <a:schemeClr val="accent5">
                    <a:lumMod val="60000"/>
                    <a:lumOff val="40000"/>
                  </a:schemeClr>
                </a:solidFill>
              </a:rPr>
              <a:t>Either file upload method gives you this confirmation</a:t>
            </a:r>
          </a:p>
        </p:txBody>
      </p:sp>
    </p:spTree>
    <p:extLst>
      <p:ext uri="{BB962C8B-B14F-4D97-AF65-F5344CB8AC3E}">
        <p14:creationId xmlns:p14="http://schemas.microsoft.com/office/powerpoint/2010/main" val="31167914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93199-8250-6C00-D549-B9B41252C91A}"/>
              </a:ext>
            </a:extLst>
          </p:cNvPr>
          <p:cNvSpPr>
            <a:spLocks noGrp="1"/>
          </p:cNvSpPr>
          <p:nvPr>
            <p:ph type="title"/>
          </p:nvPr>
        </p:nvSpPr>
        <p:spPr/>
        <p:txBody>
          <a:bodyPr>
            <a:normAutofit fontScale="90000"/>
          </a:bodyPr>
          <a:lstStyle/>
          <a:p>
            <a:r>
              <a:rPr lang="en-US" dirty="0"/>
              <a:t>CSV upload progress updates</a:t>
            </a:r>
          </a:p>
        </p:txBody>
      </p:sp>
      <p:pic>
        <p:nvPicPr>
          <p:cNvPr id="7" name="Content Placeholder 6">
            <a:extLst>
              <a:ext uri="{FF2B5EF4-FFF2-40B4-BE49-F238E27FC236}">
                <a16:creationId xmlns:a16="http://schemas.microsoft.com/office/drawing/2014/main" id="{86AE2C3A-DAD7-E721-3108-1921C9108002}"/>
              </a:ext>
            </a:extLst>
          </p:cNvPr>
          <p:cNvPicPr>
            <a:picLocks noGrp="1" noChangeAspect="1"/>
          </p:cNvPicPr>
          <p:nvPr>
            <p:ph idx="1"/>
          </p:nvPr>
        </p:nvPicPr>
        <p:blipFill>
          <a:blip r:embed="rId2"/>
          <a:stretch>
            <a:fillRect/>
          </a:stretch>
        </p:blipFill>
        <p:spPr>
          <a:xfrm>
            <a:off x="308083" y="905060"/>
            <a:ext cx="11550541" cy="5696818"/>
          </a:xfrm>
          <a:prstGeom prst="rect">
            <a:avLst/>
          </a:prstGeom>
        </p:spPr>
      </p:pic>
      <p:sp>
        <p:nvSpPr>
          <p:cNvPr id="8" name="TextBox 7">
            <a:extLst>
              <a:ext uri="{FF2B5EF4-FFF2-40B4-BE49-F238E27FC236}">
                <a16:creationId xmlns:a16="http://schemas.microsoft.com/office/drawing/2014/main" id="{09B2CCE3-29F4-360F-B114-BC1AB268E8F3}"/>
              </a:ext>
            </a:extLst>
          </p:cNvPr>
          <p:cNvSpPr txBox="1"/>
          <p:nvPr/>
        </p:nvSpPr>
        <p:spPr>
          <a:xfrm>
            <a:off x="7321550" y="2228850"/>
            <a:ext cx="3536289" cy="276999"/>
          </a:xfrm>
          <a:prstGeom prst="rect">
            <a:avLst/>
          </a:prstGeom>
          <a:noFill/>
        </p:spPr>
        <p:txBody>
          <a:bodyPr wrap="none" rtlCol="0">
            <a:spAutoFit/>
          </a:bodyPr>
          <a:lstStyle/>
          <a:p>
            <a:r>
              <a:rPr lang="en-US" sz="1200" dirty="0">
                <a:solidFill>
                  <a:schemeClr val="accent5">
                    <a:lumMod val="60000"/>
                    <a:lumOff val="40000"/>
                  </a:schemeClr>
                </a:solidFill>
              </a:rPr>
              <a:t>After a successful upload, you’ll see this message.</a:t>
            </a:r>
          </a:p>
        </p:txBody>
      </p:sp>
      <p:sp>
        <p:nvSpPr>
          <p:cNvPr id="9" name="TextBox 8">
            <a:extLst>
              <a:ext uri="{FF2B5EF4-FFF2-40B4-BE49-F238E27FC236}">
                <a16:creationId xmlns:a16="http://schemas.microsoft.com/office/drawing/2014/main" id="{9D603A14-5931-1B17-8F2D-E22B46433E73}"/>
              </a:ext>
            </a:extLst>
          </p:cNvPr>
          <p:cNvSpPr txBox="1"/>
          <p:nvPr/>
        </p:nvSpPr>
        <p:spPr>
          <a:xfrm>
            <a:off x="1979629" y="4369197"/>
            <a:ext cx="9728462" cy="646331"/>
          </a:xfrm>
          <a:prstGeom prst="rect">
            <a:avLst/>
          </a:prstGeom>
          <a:noFill/>
        </p:spPr>
        <p:txBody>
          <a:bodyPr wrap="square" rtlCol="0">
            <a:spAutoFit/>
          </a:bodyPr>
          <a:lstStyle/>
          <a:p>
            <a:r>
              <a:rPr lang="en-US" dirty="0"/>
              <a:t>If you upload a non-CSV or a CSV where the columns aren’t what the reader expects, you haven’t affected the database, but the little gray update box will be…troubled </a:t>
            </a:r>
          </a:p>
        </p:txBody>
      </p:sp>
      <p:sp>
        <p:nvSpPr>
          <p:cNvPr id="10" name="TextBox 9">
            <a:extLst>
              <a:ext uri="{FF2B5EF4-FFF2-40B4-BE49-F238E27FC236}">
                <a16:creationId xmlns:a16="http://schemas.microsoft.com/office/drawing/2014/main" id="{65F1E29E-7630-6390-7AE4-67F2597D73DF}"/>
              </a:ext>
            </a:extLst>
          </p:cNvPr>
          <p:cNvSpPr txBox="1"/>
          <p:nvPr/>
        </p:nvSpPr>
        <p:spPr>
          <a:xfrm>
            <a:off x="7456601" y="1467402"/>
            <a:ext cx="3401238" cy="461665"/>
          </a:xfrm>
          <a:prstGeom prst="rect">
            <a:avLst/>
          </a:prstGeom>
          <a:noFill/>
        </p:spPr>
        <p:txBody>
          <a:bodyPr wrap="square" rtlCol="0">
            <a:spAutoFit/>
          </a:bodyPr>
          <a:lstStyle/>
          <a:p>
            <a:r>
              <a:rPr lang="en-US" sz="1200" dirty="0">
                <a:solidFill>
                  <a:schemeClr val="accent5">
                    <a:lumMod val="60000"/>
                    <a:lumOff val="40000"/>
                  </a:schemeClr>
                </a:solidFill>
              </a:rPr>
              <a:t>As long as the CSV you upload is in the Maximo format, you shouldn’t have any problems</a:t>
            </a:r>
          </a:p>
        </p:txBody>
      </p:sp>
    </p:spTree>
    <p:extLst>
      <p:ext uri="{BB962C8B-B14F-4D97-AF65-F5344CB8AC3E}">
        <p14:creationId xmlns:p14="http://schemas.microsoft.com/office/powerpoint/2010/main" val="40583518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6839B491-29C4-40FE-B7E5-6C2ED8488D26}" vid="{BF49CCC8-C85E-4EC7-A8B6-D0BBC1EE539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TMM Presentation Template</Template>
  <TotalTime>16370</TotalTime>
  <Words>1101</Words>
  <Application>Microsoft Office PowerPoint</Application>
  <PresentationFormat>Widescreen</PresentationFormat>
  <Paragraphs>96</Paragraphs>
  <Slides>19</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Aptos</vt:lpstr>
      <vt:lpstr>Arial</vt:lpstr>
      <vt:lpstr>Calibri</vt:lpstr>
      <vt:lpstr>Courier New</vt:lpstr>
      <vt:lpstr>Wingdings</vt:lpstr>
      <vt:lpstr>Office Theme</vt:lpstr>
      <vt:lpstr>PowerPoint Presentation</vt:lpstr>
      <vt:lpstr>Table of Contents</vt:lpstr>
      <vt:lpstr>Explaining lockout level</vt:lpstr>
      <vt:lpstr>Splash screen/historical page</vt:lpstr>
      <vt:lpstr>Using the filters</vt:lpstr>
      <vt:lpstr>Using the table</vt:lpstr>
      <vt:lpstr>Historical: the ‘expand’ button</vt:lpstr>
      <vt:lpstr>Line Status page</vt:lpstr>
      <vt:lpstr>Associate/line management page</vt:lpstr>
      <vt:lpstr>Associate addition</vt:lpstr>
      <vt:lpstr>Associate removal</vt:lpstr>
      <vt:lpstr>Empty search</vt:lpstr>
      <vt:lpstr>Line management</vt:lpstr>
      <vt:lpstr>Line addition</vt:lpstr>
      <vt:lpstr>Line update</vt:lpstr>
      <vt:lpstr>Line removal</vt:lpstr>
      <vt:lpstr>Update CMMS mappings page</vt:lpstr>
      <vt:lpstr>CSV upload confirmation</vt:lpstr>
      <vt:lpstr>CSV upload progress updates</vt:lpstr>
    </vt:vector>
  </TitlesOfParts>
  <Company>Office365 Base Installer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 &amp; Safety  Announcements</dc:title>
  <dc:creator>Wendy Cromer</dc:creator>
  <cp:lastModifiedBy>Eric McKay</cp:lastModifiedBy>
  <cp:revision>638</cp:revision>
  <dcterms:created xsi:type="dcterms:W3CDTF">2024-08-13T13:38:02Z</dcterms:created>
  <dcterms:modified xsi:type="dcterms:W3CDTF">2026-03-25T19:33:02Z</dcterms:modified>
</cp:coreProperties>
</file>